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59" r:id="rId3"/>
    <p:sldId id="258" r:id="rId4"/>
    <p:sldId id="260" r:id="rId5"/>
    <p:sldId id="261" r:id="rId6"/>
    <p:sldId id="268" r:id="rId7"/>
    <p:sldId id="269" r:id="rId8"/>
    <p:sldId id="267" r:id="rId9"/>
    <p:sldId id="265" r:id="rId10"/>
    <p:sldId id="266" r:id="rId11"/>
    <p:sldId id="275" r:id="rId12"/>
    <p:sldId id="262" r:id="rId13"/>
    <p:sldId id="264" r:id="rId14"/>
    <p:sldId id="276" r:id="rId15"/>
    <p:sldId id="277" r:id="rId16"/>
    <p:sldId id="278" r:id="rId17"/>
    <p:sldId id="263" r:id="rId18"/>
    <p:sldId id="279" r:id="rId19"/>
    <p:sldId id="280"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5" d="100"/>
          <a:sy n="95" d="100"/>
        </p:scale>
        <p:origin x="-109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08F805E-AB61-4208-AD4F-15B6D1153664}" type="datetimeFigureOut">
              <a:rPr lang="en-IN" smtClean="0"/>
              <a:t>20-01-2025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D0383-D423-4C63-9B09-81D4692A8D4A}" type="slidenum">
              <a:rPr lang="en-IN" smtClean="0"/>
              <a:t>‹#›</a:t>
            </a:fld>
            <a:endParaRPr lang="en-IN"/>
          </a:p>
        </p:txBody>
      </p:sp>
    </p:spTree>
    <p:extLst>
      <p:ext uri="{BB962C8B-B14F-4D97-AF65-F5344CB8AC3E}">
        <p14:creationId xmlns:p14="http://schemas.microsoft.com/office/powerpoint/2010/main" val="60299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93D0383-D423-4C63-9B09-81D4692A8D4A}" type="slidenum">
              <a:rPr lang="en-IN" smtClean="0"/>
              <a:t>2</a:t>
            </a:fld>
            <a:endParaRPr lang="en-IN"/>
          </a:p>
        </p:txBody>
      </p:sp>
    </p:spTree>
    <p:extLst>
      <p:ext uri="{BB962C8B-B14F-4D97-AF65-F5344CB8AC3E}">
        <p14:creationId xmlns:p14="http://schemas.microsoft.com/office/powerpoint/2010/main" val="2716562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6915A4A-620E-4565-95FA-AD6EDD3B2132}" type="datetimeFigureOut">
              <a:rPr lang="en-IN" smtClean="0"/>
              <a:t>20-01-2025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A03B2C-46C3-4DB5-BB86-70CB04C841DA}" type="slidenum">
              <a:rPr lang="en-IN" smtClean="0"/>
              <a:t>‹#›</a:t>
            </a:fld>
            <a:endParaRPr lang="en-IN"/>
          </a:p>
        </p:txBody>
      </p:sp>
    </p:spTree>
    <p:extLst>
      <p:ext uri="{BB962C8B-B14F-4D97-AF65-F5344CB8AC3E}">
        <p14:creationId xmlns:p14="http://schemas.microsoft.com/office/powerpoint/2010/main" val="300046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6915A4A-620E-4565-95FA-AD6EDD3B2132}" type="datetimeFigureOut">
              <a:rPr lang="en-IN" smtClean="0"/>
              <a:t>20-01-2025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A03B2C-46C3-4DB5-BB86-70CB04C841DA}" type="slidenum">
              <a:rPr lang="en-IN" smtClean="0"/>
              <a:t>‹#›</a:t>
            </a:fld>
            <a:endParaRPr lang="en-IN"/>
          </a:p>
        </p:txBody>
      </p:sp>
    </p:spTree>
    <p:extLst>
      <p:ext uri="{BB962C8B-B14F-4D97-AF65-F5344CB8AC3E}">
        <p14:creationId xmlns:p14="http://schemas.microsoft.com/office/powerpoint/2010/main" val="2152702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915A4A-620E-4565-95FA-AD6EDD3B2132}" type="datetimeFigureOut">
              <a:rPr lang="en-IN" smtClean="0"/>
              <a:t>20-01-2025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A03B2C-46C3-4DB5-BB86-70CB04C841DA}" type="slidenum">
              <a:rPr lang="en-IN" smtClean="0"/>
              <a:t>‹#›</a:t>
            </a:fld>
            <a:endParaRPr lang="en-IN"/>
          </a:p>
        </p:txBody>
      </p:sp>
    </p:spTree>
    <p:extLst>
      <p:ext uri="{BB962C8B-B14F-4D97-AF65-F5344CB8AC3E}">
        <p14:creationId xmlns:p14="http://schemas.microsoft.com/office/powerpoint/2010/main" val="782075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6915A4A-620E-4565-95FA-AD6EDD3B2132}" type="datetimeFigureOut">
              <a:rPr lang="en-IN" smtClean="0"/>
              <a:t>20-01-2025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A03B2C-46C3-4DB5-BB86-70CB04C841DA}" type="slidenum">
              <a:rPr lang="en-IN" smtClean="0"/>
              <a:t>‹#›</a:t>
            </a:fld>
            <a:endParaRPr lang="en-IN"/>
          </a:p>
        </p:txBody>
      </p:sp>
    </p:spTree>
    <p:extLst>
      <p:ext uri="{BB962C8B-B14F-4D97-AF65-F5344CB8AC3E}">
        <p14:creationId xmlns:p14="http://schemas.microsoft.com/office/powerpoint/2010/main" val="3012570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6915A4A-620E-4565-95FA-AD6EDD3B2132}" type="datetimeFigureOut">
              <a:rPr lang="en-IN" smtClean="0"/>
              <a:t>20-01-2025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7A03B2C-46C3-4DB5-BB86-70CB04C841DA}" type="slidenum">
              <a:rPr lang="en-IN" smtClean="0"/>
              <a:t>‹#›</a:t>
            </a:fld>
            <a:endParaRPr lang="en-IN"/>
          </a:p>
        </p:txBody>
      </p:sp>
    </p:spTree>
    <p:extLst>
      <p:ext uri="{BB962C8B-B14F-4D97-AF65-F5344CB8AC3E}">
        <p14:creationId xmlns:p14="http://schemas.microsoft.com/office/powerpoint/2010/main" val="1216759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6915A4A-620E-4565-95FA-AD6EDD3B2132}" type="datetimeFigureOut">
              <a:rPr lang="en-IN" smtClean="0"/>
              <a:t>20-01-2025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7A03B2C-46C3-4DB5-BB86-70CB04C841DA}" type="slidenum">
              <a:rPr lang="en-IN" smtClean="0"/>
              <a:t>‹#›</a:t>
            </a:fld>
            <a:endParaRPr lang="en-IN"/>
          </a:p>
        </p:txBody>
      </p:sp>
    </p:spTree>
    <p:extLst>
      <p:ext uri="{BB962C8B-B14F-4D97-AF65-F5344CB8AC3E}">
        <p14:creationId xmlns:p14="http://schemas.microsoft.com/office/powerpoint/2010/main" val="3107883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915A4A-620E-4565-95FA-AD6EDD3B2132}" type="datetimeFigureOut">
              <a:rPr lang="en-IN" smtClean="0"/>
              <a:t>20-01-2025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7A03B2C-46C3-4DB5-BB86-70CB04C841DA}" type="slidenum">
              <a:rPr lang="en-IN" smtClean="0"/>
              <a:t>‹#›</a:t>
            </a:fld>
            <a:endParaRPr lang="en-IN"/>
          </a:p>
        </p:txBody>
      </p:sp>
    </p:spTree>
    <p:extLst>
      <p:ext uri="{BB962C8B-B14F-4D97-AF65-F5344CB8AC3E}">
        <p14:creationId xmlns:p14="http://schemas.microsoft.com/office/powerpoint/2010/main" val="4047853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915A4A-620E-4565-95FA-AD6EDD3B2132}" type="datetimeFigureOut">
              <a:rPr lang="en-IN" smtClean="0"/>
              <a:t>20-01-2025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A03B2C-46C3-4DB5-BB86-70CB04C841DA}" type="slidenum">
              <a:rPr lang="en-IN" smtClean="0"/>
              <a:t>‹#›</a:t>
            </a:fld>
            <a:endParaRPr lang="en-IN"/>
          </a:p>
        </p:txBody>
      </p:sp>
    </p:spTree>
    <p:extLst>
      <p:ext uri="{BB962C8B-B14F-4D97-AF65-F5344CB8AC3E}">
        <p14:creationId xmlns:p14="http://schemas.microsoft.com/office/powerpoint/2010/main" val="230803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915A4A-620E-4565-95FA-AD6EDD3B2132}" type="datetimeFigureOut">
              <a:rPr lang="en-IN" smtClean="0"/>
              <a:t>20-01-2025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A03B2C-46C3-4DB5-BB86-70CB04C841DA}" type="slidenum">
              <a:rPr lang="en-IN" smtClean="0"/>
              <a:t>‹#›</a:t>
            </a:fld>
            <a:endParaRPr lang="en-IN"/>
          </a:p>
        </p:txBody>
      </p:sp>
    </p:spTree>
    <p:extLst>
      <p:ext uri="{BB962C8B-B14F-4D97-AF65-F5344CB8AC3E}">
        <p14:creationId xmlns:p14="http://schemas.microsoft.com/office/powerpoint/2010/main" val="39869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6915A4A-620E-4565-95FA-AD6EDD3B2132}" type="datetimeFigureOut">
              <a:rPr lang="en-IN" smtClean="0"/>
              <a:t>20-01-2025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A03B2C-46C3-4DB5-BB86-70CB04C841DA}" type="slidenum">
              <a:rPr lang="en-IN" smtClean="0"/>
              <a:t>‹#›</a:t>
            </a:fld>
            <a:endParaRPr lang="en-IN"/>
          </a:p>
        </p:txBody>
      </p:sp>
    </p:spTree>
    <p:extLst>
      <p:ext uri="{BB962C8B-B14F-4D97-AF65-F5344CB8AC3E}">
        <p14:creationId xmlns:p14="http://schemas.microsoft.com/office/powerpoint/2010/main" val="3570222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6915A4A-620E-4565-95FA-AD6EDD3B2132}" type="datetimeFigureOut">
              <a:rPr lang="en-IN" smtClean="0"/>
              <a:t>20-01-2025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A03B2C-46C3-4DB5-BB86-70CB04C841DA}" type="slidenum">
              <a:rPr lang="en-IN" smtClean="0"/>
              <a:t>‹#›</a:t>
            </a:fld>
            <a:endParaRPr lang="en-IN"/>
          </a:p>
        </p:txBody>
      </p:sp>
    </p:spTree>
    <p:extLst>
      <p:ext uri="{BB962C8B-B14F-4D97-AF65-F5344CB8AC3E}">
        <p14:creationId xmlns:p14="http://schemas.microsoft.com/office/powerpoint/2010/main" val="2869265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915A4A-620E-4565-95FA-AD6EDD3B2132}" type="datetimeFigureOut">
              <a:rPr lang="en-IN" smtClean="0"/>
              <a:t>20-01-2025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A03B2C-46C3-4DB5-BB86-70CB04C841DA}" type="slidenum">
              <a:rPr lang="en-IN" smtClean="0"/>
              <a:t>‹#›</a:t>
            </a:fld>
            <a:endParaRPr lang="en-IN"/>
          </a:p>
        </p:txBody>
      </p:sp>
    </p:spTree>
    <p:extLst>
      <p:ext uri="{BB962C8B-B14F-4D97-AF65-F5344CB8AC3E}">
        <p14:creationId xmlns:p14="http://schemas.microsoft.com/office/powerpoint/2010/main" val="16448943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ive this AI a few words of description and it produces a stunning image –  but is it art? - StuffSA">
            <a:extLst>
              <a:ext uri="{FF2B5EF4-FFF2-40B4-BE49-F238E27FC236}">
                <a16:creationId xmlns:a16="http://schemas.microsoft.com/office/drawing/2014/main" xmlns="" id="{5EE82A73-3348-33FB-808A-91786F7D4BE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000"/>
          <a:stretch/>
        </p:blipFill>
        <p:spPr bwMode="auto">
          <a:xfrm>
            <a:off x="0" y="0"/>
            <a:ext cx="9144000" cy="6858000"/>
          </a:xfrm>
          <a:prstGeom prst="rect">
            <a:avLst/>
          </a:prstGeom>
          <a:solidFill>
            <a:schemeClr val="tx1">
              <a:lumMod val="65000"/>
              <a:lumOff val="35000"/>
            </a:schemeClr>
          </a:solidFill>
        </p:spPr>
      </p:pic>
      <p:sp>
        <p:nvSpPr>
          <p:cNvPr id="4" name="Rectangle 3">
            <a:extLst>
              <a:ext uri="{FF2B5EF4-FFF2-40B4-BE49-F238E27FC236}">
                <a16:creationId xmlns:a16="http://schemas.microsoft.com/office/drawing/2014/main" xmlns="" id="{7899A996-ECB9-F2B3-A01B-69B8804A8B78}"/>
              </a:ext>
            </a:extLst>
          </p:cNvPr>
          <p:cNvSpPr/>
          <p:nvPr/>
        </p:nvSpPr>
        <p:spPr>
          <a:xfrm>
            <a:off x="-66092" y="1"/>
            <a:ext cx="9276184" cy="6857999"/>
          </a:xfrm>
          <a:prstGeom prst="rect">
            <a:avLst/>
          </a:prstGeom>
          <a:solidFill>
            <a:schemeClr val="tx2">
              <a:lumMod val="50000"/>
              <a:alpha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highlight>
                <a:srgbClr val="000000"/>
              </a:highlight>
              <a:latin typeface="Algerian" panose="04020705040A02060702" pitchFamily="82" charset="0"/>
            </a:endParaRPr>
          </a:p>
          <a:p>
            <a:pPr algn="ctr"/>
            <a:endParaRPr lang="en-US" dirty="0">
              <a:highlight>
                <a:srgbClr val="000000"/>
              </a:highlight>
              <a:latin typeface="Algerian" panose="04020705040A02060702" pitchFamily="82" charset="0"/>
            </a:endParaRPr>
          </a:p>
          <a:p>
            <a:pPr algn="ctr"/>
            <a:endParaRPr lang="en-US" dirty="0" smtClean="0">
              <a:highlight>
                <a:srgbClr val="000000"/>
              </a:highlight>
              <a:latin typeface="Algerian" panose="04020705040A02060702" pitchFamily="82" charset="0"/>
            </a:endParaRPr>
          </a:p>
        </p:txBody>
      </p:sp>
      <p:sp>
        <p:nvSpPr>
          <p:cNvPr id="7" name="Rectangle 6"/>
          <p:cNvSpPr/>
          <p:nvPr/>
        </p:nvSpPr>
        <p:spPr>
          <a:xfrm>
            <a:off x="561268" y="2708920"/>
            <a:ext cx="7992888" cy="1200329"/>
          </a:xfrm>
          <a:prstGeom prst="rect">
            <a:avLst/>
          </a:prstGeom>
        </p:spPr>
        <p:txBody>
          <a:bodyPr wrap="square">
            <a:spAutoFit/>
          </a:bodyPr>
          <a:lstStyle/>
          <a:p>
            <a:pPr algn="ctr"/>
            <a:r>
              <a:rPr lang="en-US" sz="7200" cap="all" dirty="0" smtClean="0">
                <a:solidFill>
                  <a:schemeClr val="accent4">
                    <a:lumMod val="20000"/>
                    <a:lumOff val="80000"/>
                  </a:schemeClr>
                </a:solidFill>
                <a:latin typeface="Algerian" pitchFamily="82" charset="0"/>
                <a:cs typeface="Times New Roman" pitchFamily="18" charset="0"/>
              </a:rPr>
              <a:t>WELCOME</a:t>
            </a:r>
            <a:endParaRPr lang="en-US" sz="7200" cap="all" dirty="0">
              <a:solidFill>
                <a:schemeClr val="accent4">
                  <a:lumMod val="20000"/>
                  <a:lumOff val="80000"/>
                </a:schemeClr>
              </a:solidFill>
              <a:latin typeface="Algerian" pitchFamily="82" charset="0"/>
              <a:cs typeface="Times New Roman" pitchFamily="18" charset="0"/>
            </a:endParaRPr>
          </a:p>
        </p:txBody>
      </p:sp>
    </p:spTree>
    <p:extLst>
      <p:ext uri="{BB962C8B-B14F-4D97-AF65-F5344CB8AC3E}">
        <p14:creationId xmlns:p14="http://schemas.microsoft.com/office/powerpoint/2010/main" val="39172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C:\Users\DELL\Downloads\AdobeStock_1069618193_Preview.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 y="0"/>
            <a:ext cx="9172575"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xmlns="" id="{7899A996-ECB9-F2B3-A01B-69B8804A8B78}"/>
              </a:ext>
            </a:extLst>
          </p:cNvPr>
          <p:cNvSpPr/>
          <p:nvPr/>
        </p:nvSpPr>
        <p:spPr>
          <a:xfrm>
            <a:off x="-66092" y="1"/>
            <a:ext cx="9276184" cy="6857999"/>
          </a:xfrm>
          <a:prstGeom prst="rect">
            <a:avLst/>
          </a:prstGeom>
          <a:solidFill>
            <a:schemeClr val="tx2">
              <a:lumMod val="50000"/>
              <a:alpha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highlight>
                <a:srgbClr val="000000"/>
              </a:highlight>
              <a:latin typeface="Algerian" panose="04020705040A02060702" pitchFamily="82" charset="0"/>
            </a:endParaRPr>
          </a:p>
          <a:p>
            <a:pPr algn="ctr"/>
            <a:endParaRPr lang="en-US" dirty="0">
              <a:highlight>
                <a:srgbClr val="000000"/>
              </a:highlight>
              <a:latin typeface="Algerian" panose="04020705040A02060702" pitchFamily="82" charset="0"/>
            </a:endParaRPr>
          </a:p>
          <a:p>
            <a:pPr algn="ctr"/>
            <a:endParaRPr lang="en-US" dirty="0" smtClean="0">
              <a:highlight>
                <a:srgbClr val="000000"/>
              </a:highlight>
              <a:latin typeface="Algerian" panose="04020705040A02060702" pitchFamily="82" charset="0"/>
            </a:endParaRPr>
          </a:p>
        </p:txBody>
      </p:sp>
      <p:sp>
        <p:nvSpPr>
          <p:cNvPr id="7" name="Rectangle 6"/>
          <p:cNvSpPr/>
          <p:nvPr/>
        </p:nvSpPr>
        <p:spPr>
          <a:xfrm>
            <a:off x="561268" y="2708920"/>
            <a:ext cx="7992888" cy="1754326"/>
          </a:xfrm>
          <a:prstGeom prst="rect">
            <a:avLst/>
          </a:prstGeom>
        </p:spPr>
        <p:txBody>
          <a:bodyPr wrap="square">
            <a:spAutoFit/>
          </a:bodyPr>
          <a:lstStyle/>
          <a:p>
            <a:pPr algn="ctr"/>
            <a:r>
              <a:rPr lang="en-US" sz="5400" cap="all" dirty="0" smtClean="0">
                <a:solidFill>
                  <a:schemeClr val="accent4">
                    <a:lumMod val="20000"/>
                    <a:lumOff val="80000"/>
                  </a:schemeClr>
                </a:solidFill>
                <a:latin typeface="Algerian" pitchFamily="82" charset="0"/>
                <a:cs typeface="Times New Roman" pitchFamily="18" charset="0"/>
              </a:rPr>
              <a:t>CAR BLACK BOX PROJECT</a:t>
            </a:r>
            <a:endParaRPr lang="en-US" sz="5400" cap="all" dirty="0">
              <a:solidFill>
                <a:schemeClr val="accent4">
                  <a:lumMod val="20000"/>
                  <a:lumOff val="80000"/>
                </a:schemeClr>
              </a:solidFill>
              <a:latin typeface="Algerian" pitchFamily="82" charset="0"/>
              <a:cs typeface="Times New Roman" pitchFamily="18" charset="0"/>
            </a:endParaRPr>
          </a:p>
        </p:txBody>
      </p:sp>
    </p:spTree>
    <p:extLst>
      <p:ext uri="{BB962C8B-B14F-4D97-AF65-F5344CB8AC3E}">
        <p14:creationId xmlns:p14="http://schemas.microsoft.com/office/powerpoint/2010/main" val="272536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DELL\AppData\Local\Temp\{F88955A7-CC86-441E-B841-917CB39728C7}.t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8" y="0"/>
            <a:ext cx="9149578"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141983" y="1497384"/>
            <a:ext cx="4572000" cy="1508105"/>
          </a:xfrm>
          <a:prstGeom prst="rect">
            <a:avLst/>
          </a:prstGeom>
        </p:spPr>
        <p:txBody>
          <a:bodyPr>
            <a:spAutoFit/>
          </a:bodyPr>
          <a:lstStyle/>
          <a:p>
            <a:pPr algn="ctr"/>
            <a:r>
              <a:rPr lang="en-US" b="1" cap="all" dirty="0" smtClean="0">
                <a:solidFill>
                  <a:schemeClr val="bg1"/>
                </a:solidFill>
                <a:latin typeface="Times New Roman" panose="02020603050405020304" pitchFamily="18" charset="0"/>
                <a:cs typeface="Times New Roman" panose="02020603050405020304" pitchFamily="18" charset="0"/>
              </a:rPr>
              <a:t>Under the guidance OF</a:t>
            </a:r>
          </a:p>
          <a:p>
            <a:pPr algn="ctr"/>
            <a:r>
              <a:rPr lang="en-US" b="1" cap="all" dirty="0" smtClean="0">
                <a:solidFill>
                  <a:schemeClr val="bg1"/>
                </a:solidFill>
                <a:latin typeface="Times New Roman" panose="02020603050405020304" pitchFamily="18" charset="0"/>
                <a:cs typeface="Times New Roman" panose="02020603050405020304" pitchFamily="18" charset="0"/>
              </a:rPr>
              <a:t> </a:t>
            </a:r>
          </a:p>
          <a:p>
            <a:pPr algn="ctr"/>
            <a:r>
              <a:rPr lang="en-US" sz="2800" b="1" cap="all" dirty="0" smtClean="0">
                <a:solidFill>
                  <a:schemeClr val="bg1"/>
                </a:solidFill>
                <a:latin typeface="Times New Roman" panose="02020603050405020304" pitchFamily="18" charset="0"/>
                <a:cs typeface="Times New Roman" pitchFamily="18" charset="0"/>
              </a:rPr>
              <a:t>SABARI SIR</a:t>
            </a:r>
          </a:p>
          <a:p>
            <a:pPr algn="ctr"/>
            <a:r>
              <a:rPr lang="en-US" sz="2800" b="1" cap="all" dirty="0" smtClean="0">
                <a:solidFill>
                  <a:schemeClr val="bg1"/>
                </a:solidFill>
                <a:latin typeface="Times New Roman" panose="02020603050405020304" pitchFamily="18" charset="0"/>
                <a:cs typeface="Times New Roman" pitchFamily="18" charset="0"/>
              </a:rPr>
              <a:t>POOVARASAN SIR</a:t>
            </a:r>
            <a:endParaRPr lang="en-US" sz="2800" b="1" cap="all" dirty="0">
              <a:solidFill>
                <a:schemeClr val="bg1"/>
              </a:solidFill>
              <a:latin typeface="Times New Roman" panose="02020603050405020304" pitchFamily="18" charset="0"/>
              <a:cs typeface="Times New Roman" pitchFamily="18" charset="0"/>
            </a:endParaRPr>
          </a:p>
        </p:txBody>
      </p:sp>
      <p:sp>
        <p:nvSpPr>
          <p:cNvPr id="3" name="Rectangle 2"/>
          <p:cNvSpPr/>
          <p:nvPr/>
        </p:nvSpPr>
        <p:spPr>
          <a:xfrm>
            <a:off x="3347864" y="3717032"/>
            <a:ext cx="2160240" cy="400110"/>
          </a:xfrm>
          <a:prstGeom prst="rect">
            <a:avLst/>
          </a:prstGeom>
        </p:spPr>
        <p:txBody>
          <a:bodyPr wrap="square">
            <a:spAutoFit/>
          </a:bodyPr>
          <a:lstStyle/>
          <a:p>
            <a:pPr algn="ctr"/>
            <a:r>
              <a:rPr lang="en-US" sz="2000" b="1" cap="all" dirty="0" smtClean="0">
                <a:solidFill>
                  <a:schemeClr val="accent4">
                    <a:lumMod val="20000"/>
                    <a:lumOff val="80000"/>
                  </a:schemeClr>
                </a:solidFill>
                <a:latin typeface="Times New Roman" panose="02020603050405020304" pitchFamily="18" charset="0"/>
                <a:cs typeface="Times New Roman" pitchFamily="18" charset="0"/>
              </a:rPr>
              <a:t>PRESENTED BY</a:t>
            </a:r>
            <a:endParaRPr lang="en-US" sz="2000" b="1" cap="all" dirty="0">
              <a:solidFill>
                <a:schemeClr val="accent4">
                  <a:lumMod val="20000"/>
                  <a:lumOff val="80000"/>
                </a:schemeClr>
              </a:solidFill>
              <a:latin typeface="Times New Roman" panose="02020603050405020304" pitchFamily="18" charset="0"/>
              <a:cs typeface="Times New Roman" pitchFamily="18" charset="0"/>
            </a:endParaRPr>
          </a:p>
        </p:txBody>
      </p:sp>
      <p:sp>
        <p:nvSpPr>
          <p:cNvPr id="4" name="Rectangle 3"/>
          <p:cNvSpPr/>
          <p:nvPr/>
        </p:nvSpPr>
        <p:spPr>
          <a:xfrm>
            <a:off x="3093582" y="4365104"/>
            <a:ext cx="2634247" cy="646331"/>
          </a:xfrm>
          <a:prstGeom prst="rect">
            <a:avLst/>
          </a:prstGeom>
        </p:spPr>
        <p:txBody>
          <a:bodyPr wrap="none">
            <a:spAutoFit/>
          </a:bodyPr>
          <a:lstStyle/>
          <a:p>
            <a:r>
              <a:rPr lang="en-US" sz="3600" b="1" cap="all" dirty="0" smtClean="0">
                <a:solidFill>
                  <a:schemeClr val="accent4">
                    <a:lumMod val="20000"/>
                    <a:lumOff val="80000"/>
                  </a:schemeClr>
                </a:solidFill>
                <a:latin typeface="Times New Roman" panose="02020603050405020304" pitchFamily="18" charset="0"/>
                <a:cs typeface="Times New Roman" pitchFamily="18" charset="0"/>
              </a:rPr>
              <a:t>ARPITHA J</a:t>
            </a:r>
            <a:endParaRPr lang="en-IN" sz="3600" dirty="0"/>
          </a:p>
        </p:txBody>
      </p:sp>
    </p:spTree>
    <p:extLst>
      <p:ext uri="{BB962C8B-B14F-4D97-AF65-F5344CB8AC3E}">
        <p14:creationId xmlns:p14="http://schemas.microsoft.com/office/powerpoint/2010/main" val="10951677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E:\car\abstract-background-with-technology-circuit-board-texture-electronic-motherboard-illustration-communication-and-engineering-concept-illustration-free-vec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2" y="0"/>
            <a:ext cx="9205592"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899592" y="836712"/>
            <a:ext cx="2279791" cy="523220"/>
          </a:xfrm>
          <a:prstGeom prst="rect">
            <a:avLst/>
          </a:prstGeom>
        </p:spPr>
        <p:txBody>
          <a:bodyPr wrap="none">
            <a:spAutoFit/>
          </a:bodyPr>
          <a:lstStyle/>
          <a:p>
            <a:r>
              <a:rPr lang="en-IN" sz="2800" b="1" u="sng" dirty="0" smtClean="0">
                <a:solidFill>
                  <a:schemeClr val="bg1"/>
                </a:solidFill>
                <a:latin typeface="Times New Roman" panose="02020603050405020304" pitchFamily="18" charset="0"/>
                <a:cs typeface="Times New Roman" panose="02020603050405020304" pitchFamily="18" charset="0"/>
              </a:rPr>
              <a:t>CONTENTS:</a:t>
            </a:r>
            <a:endParaRPr lang="en-IN" sz="2800" b="1" u="sng" dirty="0">
              <a:solidFill>
                <a:schemeClr val="bg1"/>
              </a:solidFill>
              <a:latin typeface="Times New Roman" panose="02020603050405020304" pitchFamily="18" charset="0"/>
              <a:cs typeface="Times New Roman" panose="02020603050405020304" pitchFamily="18" charset="0"/>
            </a:endParaRPr>
          </a:p>
        </p:txBody>
      </p:sp>
      <p:sp>
        <p:nvSpPr>
          <p:cNvPr id="6" name="Rectangle 5"/>
          <p:cNvSpPr/>
          <p:nvPr/>
        </p:nvSpPr>
        <p:spPr>
          <a:xfrm>
            <a:off x="1259632" y="1844824"/>
            <a:ext cx="7812360" cy="3785652"/>
          </a:xfrm>
          <a:prstGeom prst="rect">
            <a:avLst/>
          </a:prstGeom>
        </p:spPr>
        <p:txBody>
          <a:bodyPr wrap="square">
            <a:spAutoFit/>
          </a:bodyPr>
          <a:lstStyle/>
          <a:p>
            <a:pPr marL="1657350" lvl="3" indent="-285750">
              <a:buFont typeface="Wingdings" panose="05000000000000000000" pitchFamily="2" charset="2"/>
              <a:buChar char="Ø"/>
            </a:pPr>
            <a:r>
              <a:rPr lang="en-IN" sz="2400" b="1" dirty="0" smtClean="0">
                <a:solidFill>
                  <a:schemeClr val="bg1"/>
                </a:solidFill>
                <a:latin typeface="Times New Roman" panose="02020603050405020304" pitchFamily="18" charset="0"/>
                <a:cs typeface="Times New Roman" panose="02020603050405020304" pitchFamily="18" charset="0"/>
              </a:rPr>
              <a:t>INTRODUCTION</a:t>
            </a:r>
          </a:p>
          <a:p>
            <a:pPr marL="1657350" lvl="3" indent="-285750">
              <a:buFont typeface="Wingdings" panose="05000000000000000000" pitchFamily="2" charset="2"/>
              <a:buChar char="Ø"/>
            </a:pPr>
            <a:r>
              <a:rPr lang="en-IN" sz="24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METHODOLOGY</a:t>
            </a:r>
            <a:endParaRPr lang="en-IN" sz="2400" b="1" dirty="0" smtClean="0">
              <a:solidFill>
                <a:schemeClr val="bg1"/>
              </a:solidFill>
              <a:latin typeface="Times New Roman" panose="02020603050405020304" pitchFamily="18" charset="0"/>
              <a:cs typeface="Times New Roman" panose="02020603050405020304" pitchFamily="18" charset="0"/>
            </a:endParaRPr>
          </a:p>
          <a:p>
            <a:pPr marL="1657350" lvl="3" indent="-285750">
              <a:buFont typeface="Wingdings" panose="05000000000000000000" pitchFamily="2" charset="2"/>
              <a:buChar char="Ø"/>
            </a:pPr>
            <a:r>
              <a:rPr lang="en-IN" sz="2400" b="1" dirty="0" smtClean="0">
                <a:solidFill>
                  <a:schemeClr val="bg1"/>
                </a:solidFill>
                <a:latin typeface="Times New Roman" panose="02020603050405020304" pitchFamily="18" charset="0"/>
                <a:cs typeface="Times New Roman" panose="02020603050405020304" pitchFamily="18" charset="0"/>
              </a:rPr>
              <a:t>HARDWARE, SOFTWARE REQUIREMENTS</a:t>
            </a:r>
          </a:p>
          <a:p>
            <a:pPr marL="1657350" lvl="3" indent="-285750">
              <a:buFont typeface="Wingdings" panose="05000000000000000000" pitchFamily="2" charset="2"/>
              <a:buChar char="Ø"/>
            </a:pPr>
            <a:r>
              <a:rPr lang="en-GB" sz="2400" b="1" dirty="0" smtClean="0">
                <a:solidFill>
                  <a:schemeClr val="bg1"/>
                </a:solidFill>
                <a:latin typeface="Times New Roman" panose="02020603050405020304" pitchFamily="18" charset="0"/>
                <a:cs typeface="Times New Roman" panose="02020603050405020304" pitchFamily="18" charset="0"/>
              </a:rPr>
              <a:t>WORKING</a:t>
            </a:r>
            <a:endParaRPr lang="en-IN" sz="2400" b="1" dirty="0" smtClean="0">
              <a:solidFill>
                <a:schemeClr val="bg1"/>
              </a:solidFill>
              <a:latin typeface="Times New Roman" panose="02020603050405020304" pitchFamily="18" charset="0"/>
              <a:cs typeface="Times New Roman" panose="02020603050405020304" pitchFamily="18" charset="0"/>
            </a:endParaRPr>
          </a:p>
          <a:p>
            <a:pPr marL="1657350" lvl="3" indent="-285750">
              <a:buFont typeface="Wingdings" panose="05000000000000000000" pitchFamily="2" charset="2"/>
              <a:buChar char="Ø"/>
            </a:pPr>
            <a:r>
              <a:rPr lang="en-IN" sz="2400" b="1" dirty="0" smtClean="0">
                <a:solidFill>
                  <a:schemeClr val="bg1"/>
                </a:solidFill>
                <a:latin typeface="Times New Roman" panose="02020603050405020304" pitchFamily="18" charset="0"/>
                <a:cs typeface="Times New Roman" panose="02020603050405020304" pitchFamily="18" charset="0"/>
              </a:rPr>
              <a:t>IMPLEMENTATION</a:t>
            </a:r>
          </a:p>
          <a:p>
            <a:pPr marL="1657350" lvl="3" indent="-285750">
              <a:buFont typeface="Wingdings" panose="05000000000000000000" pitchFamily="2" charset="2"/>
              <a:buChar char="Ø"/>
            </a:pPr>
            <a:r>
              <a:rPr lang="en-IN" sz="2400" b="1" dirty="0" smtClean="0">
                <a:solidFill>
                  <a:schemeClr val="bg1"/>
                </a:solidFill>
                <a:latin typeface="Times New Roman" panose="02020603050405020304" pitchFamily="18" charset="0"/>
                <a:cs typeface="Times New Roman" panose="02020603050405020304" pitchFamily="18" charset="0"/>
              </a:rPr>
              <a:t>APPLICATION</a:t>
            </a:r>
          </a:p>
          <a:p>
            <a:pPr marL="1657350" lvl="3" indent="-285750">
              <a:buFont typeface="Wingdings" panose="05000000000000000000" pitchFamily="2" charset="2"/>
              <a:buChar char="Ø"/>
            </a:pPr>
            <a:r>
              <a:rPr lang="en-IN" sz="2400" b="1" dirty="0" smtClean="0">
                <a:solidFill>
                  <a:schemeClr val="bg1"/>
                </a:solidFill>
                <a:latin typeface="Times New Roman" panose="02020603050405020304" pitchFamily="18" charset="0"/>
                <a:cs typeface="Times New Roman" panose="02020603050405020304" pitchFamily="18" charset="0"/>
              </a:rPr>
              <a:t>ADVANTAGES</a:t>
            </a:r>
          </a:p>
          <a:p>
            <a:pPr marL="1657350" lvl="3" indent="-285750">
              <a:buFont typeface="Wingdings" panose="05000000000000000000" pitchFamily="2" charset="2"/>
              <a:buChar char="Ø"/>
            </a:pPr>
            <a:r>
              <a:rPr lang="en-IN" sz="2400" b="1" dirty="0" smtClean="0">
                <a:solidFill>
                  <a:schemeClr val="bg1"/>
                </a:solidFill>
                <a:latin typeface="Times New Roman" panose="02020603050405020304" pitchFamily="18" charset="0"/>
                <a:cs typeface="Times New Roman" panose="02020603050405020304" pitchFamily="18" charset="0"/>
              </a:rPr>
              <a:t>RESULTS</a:t>
            </a:r>
          </a:p>
          <a:p>
            <a:pPr marL="1657350" lvl="3" indent="-285750">
              <a:buFont typeface="Wingdings" panose="05000000000000000000" pitchFamily="2" charset="2"/>
              <a:buChar char="Ø"/>
            </a:pPr>
            <a:r>
              <a:rPr lang="en-IN" sz="2400" b="1" dirty="0" smtClean="0">
                <a:solidFill>
                  <a:schemeClr val="bg1"/>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27991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down)">
                                      <p:cBhvr>
                                        <p:cTn id="10" dur="500"/>
                                        <p:tgtEl>
                                          <p:spTgt spid="6">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wipe(down)">
                                      <p:cBhvr>
                                        <p:cTn id="13" dur="500"/>
                                        <p:tgtEl>
                                          <p:spTgt spid="6">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wipe(down)">
                                      <p:cBhvr>
                                        <p:cTn id="16" dur="500"/>
                                        <p:tgtEl>
                                          <p:spTgt spid="6">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Effect transition="in" filter="wipe(down)">
                                      <p:cBhvr>
                                        <p:cTn id="19" dur="500"/>
                                        <p:tgtEl>
                                          <p:spTgt spid="6">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wipe(down)">
                                      <p:cBhvr>
                                        <p:cTn id="22" dur="500"/>
                                        <p:tgtEl>
                                          <p:spTgt spid="6">
                                            <p:txEl>
                                              <p:pRg st="5" end="5"/>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animEffect transition="in" filter="wipe(down)">
                                      <p:cBhvr>
                                        <p:cTn id="25" dur="500"/>
                                        <p:tgtEl>
                                          <p:spTgt spid="6">
                                            <p:txEl>
                                              <p:pRg st="6" end="6"/>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6">
                                            <p:txEl>
                                              <p:pRg st="7" end="7"/>
                                            </p:txEl>
                                          </p:spTgt>
                                        </p:tgtEl>
                                        <p:attrNameLst>
                                          <p:attrName>style.visibility</p:attrName>
                                        </p:attrNameLst>
                                      </p:cBhvr>
                                      <p:to>
                                        <p:strVal val="visible"/>
                                      </p:to>
                                    </p:set>
                                    <p:animEffect transition="in" filter="wipe(down)">
                                      <p:cBhvr>
                                        <p:cTn id="28" dur="500"/>
                                        <p:tgtEl>
                                          <p:spTgt spid="6">
                                            <p:txEl>
                                              <p:pRg st="7" end="7"/>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animEffect transition="in" filter="wipe(down)">
                                      <p:cBhvr>
                                        <p:cTn id="31"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E:\car\futuristic-technology-background-electronic-motherboard-communication-and-engineering-concept-vec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68" y="0"/>
            <a:ext cx="9191404"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049410" y="260648"/>
            <a:ext cx="3057247" cy="523220"/>
          </a:xfrm>
          <a:prstGeom prst="rect">
            <a:avLst/>
          </a:prstGeom>
        </p:spPr>
        <p:txBody>
          <a:bodyPr wrap="none">
            <a:spAutoFit/>
          </a:bodyPr>
          <a:lstStyle/>
          <a:p>
            <a:pPr algn="just"/>
            <a:r>
              <a:rPr lang="en-IN" sz="2800" b="1" u="sng" dirty="0" smtClean="0">
                <a:solidFill>
                  <a:schemeClr val="bg1"/>
                </a:solidFill>
                <a:latin typeface="Times New Roman" panose="02020603050405020304" pitchFamily="18" charset="0"/>
                <a:cs typeface="Times New Roman" panose="02020603050405020304" pitchFamily="18" charset="0"/>
              </a:rPr>
              <a:t>INTRODUCTION</a:t>
            </a:r>
            <a:endParaRPr lang="en-IN" sz="2800" b="1" u="sng" dirty="0">
              <a:solidFill>
                <a:schemeClr val="bg1"/>
              </a:solidFill>
              <a:latin typeface="Times New Roman" panose="02020603050405020304" pitchFamily="18" charset="0"/>
              <a:cs typeface="Times New Roman" panose="02020603050405020304" pitchFamily="18" charset="0"/>
            </a:endParaRPr>
          </a:p>
        </p:txBody>
      </p:sp>
      <p:pic>
        <p:nvPicPr>
          <p:cNvPr id="4101" name="Picture 5" descr="E:\car\Fitting-a-box-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83862" y="1268760"/>
            <a:ext cx="4091596" cy="266429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rot="10800000" flipV="1">
            <a:off x="492680" y="4508539"/>
            <a:ext cx="8471748" cy="1384995"/>
          </a:xfrm>
          <a:prstGeom prst="rect">
            <a:avLst/>
          </a:prstGeom>
        </p:spPr>
        <p:txBody>
          <a:bodyPr wrap="square">
            <a:spAutoFit/>
          </a:bodyPr>
          <a:lstStyle/>
          <a:p>
            <a:pPr marL="457200" indent="-457200" algn="just">
              <a:buFont typeface="Wingdings" pitchFamily="2" charset="2"/>
              <a:buChar char="§"/>
            </a:pPr>
            <a:r>
              <a:rPr lang="en-GB" sz="2800" dirty="0" smtClean="0">
                <a:solidFill>
                  <a:schemeClr val="bg1"/>
                </a:solidFill>
                <a:latin typeface="Times New Roman" panose="02020603050405020304" pitchFamily="18" charset="0"/>
                <a:cs typeface="Times New Roman" panose="02020603050405020304" pitchFamily="18" charset="0"/>
              </a:rPr>
              <a:t>A Car Black Box project is a system designed to record and store critical data about a vehicle's operation, similar to the black boxes used in aircraft. </a:t>
            </a:r>
          </a:p>
        </p:txBody>
      </p:sp>
    </p:spTree>
    <p:extLst>
      <p:ext uri="{BB962C8B-B14F-4D97-AF65-F5344CB8AC3E}">
        <p14:creationId xmlns:p14="http://schemas.microsoft.com/office/powerpoint/2010/main" val="3186656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101"/>
                                        </p:tgtEl>
                                        <p:attrNameLst>
                                          <p:attrName>style.visibility</p:attrName>
                                        </p:attrNameLst>
                                      </p:cBhvr>
                                      <p:to>
                                        <p:strVal val="visible"/>
                                      </p:to>
                                    </p:set>
                                    <p:animEffect transition="in" filter="circle(in)">
                                      <p:cBhvr>
                                        <p:cTn id="7" dur="250"/>
                                        <p:tgtEl>
                                          <p:spTgt spid="410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car\futuristic-technology-background-electronic-motherboard-communication-and-engineering-concept-vec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68" y="0"/>
            <a:ext cx="9191404"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rot="10800000" flipV="1">
            <a:off x="395536" y="366623"/>
            <a:ext cx="8471748" cy="6124754"/>
          </a:xfrm>
          <a:prstGeom prst="rect">
            <a:avLst/>
          </a:prstGeom>
        </p:spPr>
        <p:txBody>
          <a:bodyPr wrap="square">
            <a:spAutoFit/>
          </a:bodyPr>
          <a:lstStyle/>
          <a:p>
            <a:pPr marL="457200" indent="-457200" algn="just">
              <a:buFont typeface="Wingdings" pitchFamily="2" charset="2"/>
              <a:buChar char="§"/>
            </a:pPr>
            <a:endParaRPr lang="en-GB" sz="2800" dirty="0" smtClean="0">
              <a:solidFill>
                <a:schemeClr val="bg1"/>
              </a:solidFill>
              <a:latin typeface="Times New Roman" panose="02020603050405020304" pitchFamily="18" charset="0"/>
              <a:cs typeface="Times New Roman" panose="02020603050405020304" pitchFamily="18" charset="0"/>
            </a:endParaRPr>
          </a:p>
          <a:p>
            <a:pPr marL="457200" indent="-457200" algn="just">
              <a:buFont typeface="Wingdings" pitchFamily="2" charset="2"/>
              <a:buChar char="§"/>
            </a:pPr>
            <a:r>
              <a:rPr lang="en-GB" sz="2800" dirty="0" smtClean="0">
                <a:solidFill>
                  <a:schemeClr val="bg1"/>
                </a:solidFill>
                <a:latin typeface="Times New Roman" panose="02020603050405020304" pitchFamily="18" charset="0"/>
                <a:cs typeface="Times New Roman" panose="02020603050405020304" pitchFamily="18" charset="0"/>
              </a:rPr>
              <a:t>The purpose of a car black box is to enhance safety, improve vehicle performance, and assist in accident investigation</a:t>
            </a:r>
            <a:endParaRPr lang="en-IN" sz="2800" dirty="0" smtClean="0">
              <a:solidFill>
                <a:schemeClr val="bg1"/>
              </a:solidFill>
              <a:latin typeface="Times New Roman" panose="02020603050405020304" pitchFamily="18" charset="0"/>
              <a:cs typeface="Times New Roman" panose="02020603050405020304" pitchFamily="18" charset="0"/>
            </a:endParaRPr>
          </a:p>
          <a:p>
            <a:pPr marL="457200" indent="-457200" algn="just">
              <a:buFont typeface="Wingdings" pitchFamily="2" charset="2"/>
              <a:buChar char="§"/>
            </a:pPr>
            <a:endParaRPr lang="en-GB" sz="2800" dirty="0">
              <a:solidFill>
                <a:schemeClr val="bg1"/>
              </a:solidFill>
              <a:latin typeface="Times New Roman" panose="02020603050405020304" pitchFamily="18" charset="0"/>
              <a:cs typeface="Times New Roman" panose="02020603050405020304" pitchFamily="18" charset="0"/>
            </a:endParaRPr>
          </a:p>
          <a:p>
            <a:pPr marL="457200" indent="-457200" algn="just">
              <a:buFont typeface="Wingdings" pitchFamily="2" charset="2"/>
              <a:buChar char="§"/>
            </a:pPr>
            <a:r>
              <a:rPr lang="en-GB" sz="2800" dirty="0" smtClean="0">
                <a:solidFill>
                  <a:schemeClr val="bg1"/>
                </a:solidFill>
                <a:latin typeface="Times New Roman" panose="02020603050405020304" pitchFamily="18" charset="0"/>
                <a:cs typeface="Times New Roman" panose="02020603050405020304" pitchFamily="18" charset="0"/>
              </a:rPr>
              <a:t>It doesn’t only store event data in the light of a fatality or an accident but also provides with live statistics of the car details through an application interface on a mobile phone.</a:t>
            </a:r>
          </a:p>
          <a:p>
            <a:pPr marL="457200" indent="-457200" algn="just">
              <a:buFont typeface="Wingdings" pitchFamily="2" charset="2"/>
              <a:buChar char="§"/>
            </a:pPr>
            <a:endParaRPr lang="en-GB" sz="2800" dirty="0" smtClean="0">
              <a:solidFill>
                <a:schemeClr val="bg1"/>
              </a:solidFill>
              <a:latin typeface="Times New Roman" panose="02020603050405020304" pitchFamily="18" charset="0"/>
              <a:cs typeface="Times New Roman" panose="02020603050405020304" pitchFamily="18" charset="0"/>
            </a:endParaRPr>
          </a:p>
          <a:p>
            <a:pPr marL="457200" indent="-457200" algn="just">
              <a:buFont typeface="Wingdings" pitchFamily="2" charset="2"/>
              <a:buChar char="§"/>
            </a:pPr>
            <a:r>
              <a:rPr lang="en-GB" sz="2800" dirty="0" smtClean="0">
                <a:solidFill>
                  <a:schemeClr val="bg1"/>
                </a:solidFill>
                <a:latin typeface="Times New Roman" panose="02020603050405020304" pitchFamily="18" charset="0"/>
                <a:cs typeface="Times New Roman" panose="02020603050405020304" pitchFamily="18" charset="0"/>
              </a:rPr>
              <a:t>A traditional black box system requires a box with all the sensors physically connected to car.</a:t>
            </a:r>
          </a:p>
          <a:p>
            <a:pPr marL="457200" indent="-457200" algn="just">
              <a:buFont typeface="Wingdings" pitchFamily="2" charset="2"/>
              <a:buChar char="§"/>
            </a:pPr>
            <a:endParaRPr lang="en-GB" sz="2800" dirty="0">
              <a:solidFill>
                <a:schemeClr val="bg1"/>
              </a:solidFill>
              <a:latin typeface="Times New Roman" panose="02020603050405020304" pitchFamily="18" charset="0"/>
              <a:cs typeface="Times New Roman" panose="02020603050405020304" pitchFamily="18" charset="0"/>
            </a:endParaRPr>
          </a:p>
          <a:p>
            <a:pPr marL="457200" indent="-457200" algn="just">
              <a:buFont typeface="Wingdings" pitchFamily="2" charset="2"/>
              <a:buChar char="§"/>
            </a:pPr>
            <a:endParaRPr lang="en-IN" sz="2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459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DELL\AppData\Local\Temp\{06CB4A1E-17CB-47B0-AFA8-A7D7AFACA8EF}.t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80483" y="332656"/>
            <a:ext cx="3583032" cy="584775"/>
          </a:xfrm>
          <a:prstGeom prst="rect">
            <a:avLst/>
          </a:prstGeom>
        </p:spPr>
        <p:txBody>
          <a:bodyPr wrap="none">
            <a:spAutoFit/>
          </a:bodyPr>
          <a:lstStyle/>
          <a:p>
            <a:r>
              <a:rPr lang="en-IN" sz="3200" b="1" u="sng"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METHODOLOGY</a:t>
            </a:r>
            <a:endParaRPr lang="en-IN" sz="3200" b="1" u="sng"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Rectangle: Rounded Corners 6">
            <a:extLst>
              <a:ext uri="{FF2B5EF4-FFF2-40B4-BE49-F238E27FC236}">
                <a16:creationId xmlns:a16="http://schemas.microsoft.com/office/drawing/2014/main" xmlns="" id="{C8A8F726-14B8-FF7C-768C-0FC557C7345E}"/>
              </a:ext>
            </a:extLst>
          </p:cNvPr>
          <p:cNvSpPr/>
          <p:nvPr/>
        </p:nvSpPr>
        <p:spPr>
          <a:xfrm>
            <a:off x="932748" y="2060848"/>
            <a:ext cx="1828343" cy="757201"/>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CLCD</a:t>
            </a:r>
            <a:endParaRPr lang="en-IN" b="1" dirty="0">
              <a:solidFill>
                <a:schemeClr val="tx1"/>
              </a:solidFill>
              <a:latin typeface="Times New Roman" pitchFamily="18" charset="0"/>
              <a:cs typeface="Times New Roman" pitchFamily="18" charset="0"/>
            </a:endParaRPr>
          </a:p>
        </p:txBody>
      </p:sp>
      <p:sp>
        <p:nvSpPr>
          <p:cNvPr id="7" name="Rectangle: Rounded Corners 6">
            <a:extLst>
              <a:ext uri="{FF2B5EF4-FFF2-40B4-BE49-F238E27FC236}">
                <a16:creationId xmlns:a16="http://schemas.microsoft.com/office/drawing/2014/main" xmlns="" id="{C8A8F726-14B8-FF7C-768C-0FC557C7345E}"/>
              </a:ext>
            </a:extLst>
          </p:cNvPr>
          <p:cNvSpPr/>
          <p:nvPr/>
        </p:nvSpPr>
        <p:spPr>
          <a:xfrm>
            <a:off x="932747" y="3246520"/>
            <a:ext cx="1828343" cy="757201"/>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I2C</a:t>
            </a:r>
          </a:p>
          <a:p>
            <a:pPr algn="ctr"/>
            <a:r>
              <a:rPr lang="en-GB" b="1" dirty="0" smtClean="0">
                <a:solidFill>
                  <a:schemeClr val="tx1"/>
                </a:solidFill>
                <a:latin typeface="Times New Roman" pitchFamily="18" charset="0"/>
                <a:cs typeface="Times New Roman" pitchFamily="18" charset="0"/>
              </a:rPr>
              <a:t>RTC/EEPROM</a:t>
            </a:r>
            <a:endParaRPr lang="en-IN" b="1" dirty="0">
              <a:solidFill>
                <a:schemeClr val="tx1"/>
              </a:solidFill>
              <a:latin typeface="Times New Roman" pitchFamily="18" charset="0"/>
              <a:cs typeface="Times New Roman" pitchFamily="18" charset="0"/>
            </a:endParaRPr>
          </a:p>
        </p:txBody>
      </p:sp>
      <p:sp>
        <p:nvSpPr>
          <p:cNvPr id="8" name="Rectangle: Rounded Corners 6">
            <a:extLst>
              <a:ext uri="{FF2B5EF4-FFF2-40B4-BE49-F238E27FC236}">
                <a16:creationId xmlns:a16="http://schemas.microsoft.com/office/drawing/2014/main" xmlns="" id="{C8A8F726-14B8-FF7C-768C-0FC557C7345E}"/>
              </a:ext>
            </a:extLst>
          </p:cNvPr>
          <p:cNvSpPr/>
          <p:nvPr/>
        </p:nvSpPr>
        <p:spPr>
          <a:xfrm>
            <a:off x="6363515" y="2055036"/>
            <a:ext cx="1828343" cy="757201"/>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POWER SUPPLY</a:t>
            </a:r>
            <a:endParaRPr lang="en-IN" b="1" dirty="0">
              <a:solidFill>
                <a:schemeClr val="tx1"/>
              </a:solidFill>
              <a:latin typeface="Times New Roman" pitchFamily="18" charset="0"/>
              <a:cs typeface="Times New Roman" pitchFamily="18" charset="0"/>
            </a:endParaRPr>
          </a:p>
        </p:txBody>
      </p:sp>
      <p:sp>
        <p:nvSpPr>
          <p:cNvPr id="10" name="Rectangle: Rounded Corners 6">
            <a:extLst>
              <a:ext uri="{FF2B5EF4-FFF2-40B4-BE49-F238E27FC236}">
                <a16:creationId xmlns:a16="http://schemas.microsoft.com/office/drawing/2014/main" xmlns="" id="{C8A8F726-14B8-FF7C-768C-0FC557C7345E}"/>
              </a:ext>
            </a:extLst>
          </p:cNvPr>
          <p:cNvSpPr/>
          <p:nvPr/>
        </p:nvSpPr>
        <p:spPr>
          <a:xfrm>
            <a:off x="3379524" y="5871488"/>
            <a:ext cx="2384949" cy="757201"/>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POTENTIOMETER</a:t>
            </a:r>
            <a:endParaRPr lang="en-IN" b="1" dirty="0">
              <a:solidFill>
                <a:schemeClr val="tx1"/>
              </a:solidFill>
              <a:latin typeface="Times New Roman" pitchFamily="18" charset="0"/>
              <a:cs typeface="Times New Roman" pitchFamily="18" charset="0"/>
            </a:endParaRPr>
          </a:p>
        </p:txBody>
      </p:sp>
      <p:sp>
        <p:nvSpPr>
          <p:cNvPr id="11" name="Rectangle: Rounded Corners 6">
            <a:extLst>
              <a:ext uri="{FF2B5EF4-FFF2-40B4-BE49-F238E27FC236}">
                <a16:creationId xmlns:a16="http://schemas.microsoft.com/office/drawing/2014/main" xmlns="" id="{C8A8F726-14B8-FF7C-768C-0FC557C7345E}"/>
              </a:ext>
            </a:extLst>
          </p:cNvPr>
          <p:cNvSpPr/>
          <p:nvPr/>
        </p:nvSpPr>
        <p:spPr>
          <a:xfrm>
            <a:off x="952140" y="4309671"/>
            <a:ext cx="1828343" cy="757201"/>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MATRIX KEYPAD</a:t>
            </a:r>
            <a:endParaRPr lang="en-IN" b="1" dirty="0">
              <a:solidFill>
                <a:schemeClr val="tx1"/>
              </a:solidFill>
              <a:latin typeface="Times New Roman" pitchFamily="18" charset="0"/>
              <a:cs typeface="Times New Roman" pitchFamily="18" charset="0"/>
            </a:endParaRPr>
          </a:p>
        </p:txBody>
      </p:sp>
      <p:sp>
        <p:nvSpPr>
          <p:cNvPr id="12" name="Rectangle: Rounded Corners 6">
            <a:extLst>
              <a:ext uri="{FF2B5EF4-FFF2-40B4-BE49-F238E27FC236}">
                <a16:creationId xmlns:a16="http://schemas.microsoft.com/office/drawing/2014/main" xmlns="" id="{C8A8F726-14B8-FF7C-768C-0FC557C7345E}"/>
              </a:ext>
            </a:extLst>
          </p:cNvPr>
          <p:cNvSpPr/>
          <p:nvPr/>
        </p:nvSpPr>
        <p:spPr>
          <a:xfrm>
            <a:off x="6364659" y="4437112"/>
            <a:ext cx="1828343" cy="757201"/>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ADC</a:t>
            </a:r>
            <a:endParaRPr lang="en-IN" b="1" dirty="0">
              <a:solidFill>
                <a:schemeClr val="tx1"/>
              </a:solidFill>
              <a:latin typeface="Times New Roman" pitchFamily="18" charset="0"/>
              <a:cs typeface="Times New Roman" pitchFamily="18" charset="0"/>
            </a:endParaRPr>
          </a:p>
        </p:txBody>
      </p:sp>
      <p:sp>
        <p:nvSpPr>
          <p:cNvPr id="13" name="Rectangle: Rounded Corners 2">
            <a:extLst>
              <a:ext uri="{FF2B5EF4-FFF2-40B4-BE49-F238E27FC236}">
                <a16:creationId xmlns:a16="http://schemas.microsoft.com/office/drawing/2014/main" xmlns="" id="{756EFB1C-4BD2-BA18-7165-86F3BE276828}"/>
              </a:ext>
            </a:extLst>
          </p:cNvPr>
          <p:cNvSpPr/>
          <p:nvPr/>
        </p:nvSpPr>
        <p:spPr>
          <a:xfrm>
            <a:off x="3554894" y="1798737"/>
            <a:ext cx="2034209" cy="3652766"/>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PIC18F4580</a:t>
            </a:r>
          </a:p>
          <a:p>
            <a:pPr algn="ctr"/>
            <a:r>
              <a:rPr lang="en-GB" b="1" dirty="0" smtClean="0">
                <a:solidFill>
                  <a:schemeClr val="tx1"/>
                </a:solidFill>
                <a:latin typeface="Times New Roman" pitchFamily="18" charset="0"/>
                <a:cs typeface="Times New Roman" pitchFamily="18" charset="0"/>
              </a:rPr>
              <a:t>MICRO</a:t>
            </a:r>
          </a:p>
          <a:p>
            <a:pPr algn="ctr"/>
            <a:r>
              <a:rPr lang="en-GB" b="1" dirty="0" smtClean="0">
                <a:solidFill>
                  <a:schemeClr val="tx1"/>
                </a:solidFill>
                <a:latin typeface="Times New Roman" pitchFamily="18" charset="0"/>
                <a:cs typeface="Times New Roman" pitchFamily="18" charset="0"/>
              </a:rPr>
              <a:t>CONTROLLER</a:t>
            </a:r>
            <a:endParaRPr lang="en-IN" b="1" dirty="0">
              <a:solidFill>
                <a:schemeClr val="tx1"/>
              </a:solidFill>
              <a:latin typeface="Times New Roman" pitchFamily="18" charset="0"/>
              <a:cs typeface="Times New Roman" pitchFamily="18" charset="0"/>
            </a:endParaRPr>
          </a:p>
        </p:txBody>
      </p:sp>
      <p:sp>
        <p:nvSpPr>
          <p:cNvPr id="16" name="Arrow: Right 13">
            <a:extLst>
              <a:ext uri="{FF2B5EF4-FFF2-40B4-BE49-F238E27FC236}">
                <a16:creationId xmlns:a16="http://schemas.microsoft.com/office/drawing/2014/main" xmlns="" id="{CDF91A30-25C2-D580-2DEE-1F83589F167B}"/>
              </a:ext>
            </a:extLst>
          </p:cNvPr>
          <p:cNvSpPr/>
          <p:nvPr/>
        </p:nvSpPr>
        <p:spPr>
          <a:xfrm rot="10800000">
            <a:off x="2745690" y="3361751"/>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Arrow: Right 13">
            <a:extLst>
              <a:ext uri="{FF2B5EF4-FFF2-40B4-BE49-F238E27FC236}">
                <a16:creationId xmlns:a16="http://schemas.microsoft.com/office/drawing/2014/main" xmlns="" id="{CDF91A30-25C2-D580-2DEE-1F83589F167B}"/>
              </a:ext>
            </a:extLst>
          </p:cNvPr>
          <p:cNvSpPr/>
          <p:nvPr/>
        </p:nvSpPr>
        <p:spPr>
          <a:xfrm>
            <a:off x="5574894" y="2275426"/>
            <a:ext cx="797797" cy="316422"/>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Arrow: Right 13">
            <a:extLst>
              <a:ext uri="{FF2B5EF4-FFF2-40B4-BE49-F238E27FC236}">
                <a16:creationId xmlns:a16="http://schemas.microsoft.com/office/drawing/2014/main" xmlns="" id="{CDF91A30-25C2-D580-2DEE-1F83589F167B}"/>
              </a:ext>
            </a:extLst>
          </p:cNvPr>
          <p:cNvSpPr/>
          <p:nvPr/>
        </p:nvSpPr>
        <p:spPr>
          <a:xfrm rot="10800000">
            <a:off x="5576038" y="4657501"/>
            <a:ext cx="796653" cy="316422"/>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Arrow: Right 13">
            <a:extLst>
              <a:ext uri="{FF2B5EF4-FFF2-40B4-BE49-F238E27FC236}">
                <a16:creationId xmlns:a16="http://schemas.microsoft.com/office/drawing/2014/main" xmlns="" id="{CDF91A30-25C2-D580-2DEE-1F83589F167B}"/>
              </a:ext>
            </a:extLst>
          </p:cNvPr>
          <p:cNvSpPr/>
          <p:nvPr/>
        </p:nvSpPr>
        <p:spPr>
          <a:xfrm>
            <a:off x="2762798" y="3678173"/>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Arrow: Right 13">
            <a:extLst>
              <a:ext uri="{FF2B5EF4-FFF2-40B4-BE49-F238E27FC236}">
                <a16:creationId xmlns:a16="http://schemas.microsoft.com/office/drawing/2014/main" xmlns="" id="{CDF91A30-25C2-D580-2DEE-1F83589F167B}"/>
              </a:ext>
            </a:extLst>
          </p:cNvPr>
          <p:cNvSpPr/>
          <p:nvPr/>
        </p:nvSpPr>
        <p:spPr>
          <a:xfrm rot="10800000">
            <a:off x="2745689" y="2170268"/>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Arrow: Right 13">
            <a:extLst>
              <a:ext uri="{FF2B5EF4-FFF2-40B4-BE49-F238E27FC236}">
                <a16:creationId xmlns:a16="http://schemas.microsoft.com/office/drawing/2014/main" xmlns="" id="{CDF91A30-25C2-D580-2DEE-1F83589F167B}"/>
              </a:ext>
            </a:extLst>
          </p:cNvPr>
          <p:cNvSpPr/>
          <p:nvPr/>
        </p:nvSpPr>
        <p:spPr>
          <a:xfrm>
            <a:off x="2756179" y="2466936"/>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Arrow: Right 13">
            <a:extLst>
              <a:ext uri="{FF2B5EF4-FFF2-40B4-BE49-F238E27FC236}">
                <a16:creationId xmlns:a16="http://schemas.microsoft.com/office/drawing/2014/main" xmlns="" id="{CDF91A30-25C2-D580-2DEE-1F83589F167B}"/>
              </a:ext>
            </a:extLst>
          </p:cNvPr>
          <p:cNvSpPr/>
          <p:nvPr/>
        </p:nvSpPr>
        <p:spPr>
          <a:xfrm rot="10800000">
            <a:off x="2756179" y="4437112"/>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Arrow: Right 13">
            <a:extLst>
              <a:ext uri="{FF2B5EF4-FFF2-40B4-BE49-F238E27FC236}">
                <a16:creationId xmlns:a16="http://schemas.microsoft.com/office/drawing/2014/main" xmlns="" id="{CDF91A30-25C2-D580-2DEE-1F83589F167B}"/>
              </a:ext>
            </a:extLst>
          </p:cNvPr>
          <p:cNvSpPr/>
          <p:nvPr/>
        </p:nvSpPr>
        <p:spPr>
          <a:xfrm>
            <a:off x="2783144" y="4657501"/>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Rectangle: Rounded Corners 6">
            <a:extLst>
              <a:ext uri="{FF2B5EF4-FFF2-40B4-BE49-F238E27FC236}">
                <a16:creationId xmlns:a16="http://schemas.microsoft.com/office/drawing/2014/main" xmlns="" id="{C8A8F726-14B8-FF7C-768C-0FC557C7345E}"/>
              </a:ext>
            </a:extLst>
          </p:cNvPr>
          <p:cNvSpPr/>
          <p:nvPr/>
        </p:nvSpPr>
        <p:spPr>
          <a:xfrm>
            <a:off x="6373979" y="3203301"/>
            <a:ext cx="1828343" cy="757201"/>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UART</a:t>
            </a:r>
            <a:endParaRPr lang="en-IN" b="1" dirty="0">
              <a:solidFill>
                <a:schemeClr val="tx1"/>
              </a:solidFill>
              <a:latin typeface="Times New Roman" pitchFamily="18" charset="0"/>
              <a:cs typeface="Times New Roman" pitchFamily="18" charset="0"/>
            </a:endParaRPr>
          </a:p>
        </p:txBody>
      </p:sp>
      <p:sp>
        <p:nvSpPr>
          <p:cNvPr id="28" name="Arrow: Right 13">
            <a:extLst>
              <a:ext uri="{FF2B5EF4-FFF2-40B4-BE49-F238E27FC236}">
                <a16:creationId xmlns:a16="http://schemas.microsoft.com/office/drawing/2014/main" xmlns="" id="{CDF91A30-25C2-D580-2DEE-1F83589F167B}"/>
              </a:ext>
            </a:extLst>
          </p:cNvPr>
          <p:cNvSpPr/>
          <p:nvPr/>
        </p:nvSpPr>
        <p:spPr>
          <a:xfrm rot="10800000">
            <a:off x="5578059" y="3371587"/>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Arrow: Right 13">
            <a:extLst>
              <a:ext uri="{FF2B5EF4-FFF2-40B4-BE49-F238E27FC236}">
                <a16:creationId xmlns:a16="http://schemas.microsoft.com/office/drawing/2014/main" xmlns="" id="{CDF91A30-25C2-D580-2DEE-1F83589F167B}"/>
              </a:ext>
            </a:extLst>
          </p:cNvPr>
          <p:cNvSpPr/>
          <p:nvPr/>
        </p:nvSpPr>
        <p:spPr>
          <a:xfrm>
            <a:off x="5589103" y="3625120"/>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Arrow: Right 13">
            <a:extLst>
              <a:ext uri="{FF2B5EF4-FFF2-40B4-BE49-F238E27FC236}">
                <a16:creationId xmlns:a16="http://schemas.microsoft.com/office/drawing/2014/main" xmlns="" id="{CDF91A30-25C2-D580-2DEE-1F83589F167B}"/>
              </a:ext>
            </a:extLst>
          </p:cNvPr>
          <p:cNvSpPr/>
          <p:nvPr/>
        </p:nvSpPr>
        <p:spPr>
          <a:xfrm rot="5400000">
            <a:off x="4196346" y="5571406"/>
            <a:ext cx="437673"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Arrow: Right 13">
            <a:extLst>
              <a:ext uri="{FF2B5EF4-FFF2-40B4-BE49-F238E27FC236}">
                <a16:creationId xmlns:a16="http://schemas.microsoft.com/office/drawing/2014/main" xmlns="" id="{CDF91A30-25C2-D580-2DEE-1F83589F167B}"/>
              </a:ext>
            </a:extLst>
          </p:cNvPr>
          <p:cNvSpPr/>
          <p:nvPr/>
        </p:nvSpPr>
        <p:spPr>
          <a:xfrm rot="16200000">
            <a:off x="4602337" y="5541196"/>
            <a:ext cx="437673"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2" name="Rectangle: Rounded Corners 6">
            <a:extLst>
              <a:ext uri="{FF2B5EF4-FFF2-40B4-BE49-F238E27FC236}">
                <a16:creationId xmlns:a16="http://schemas.microsoft.com/office/drawing/2014/main" xmlns="" id="{C8A8F726-14B8-FF7C-768C-0FC557C7345E}"/>
              </a:ext>
            </a:extLst>
          </p:cNvPr>
          <p:cNvSpPr/>
          <p:nvPr/>
        </p:nvSpPr>
        <p:spPr>
          <a:xfrm>
            <a:off x="918539" y="2085399"/>
            <a:ext cx="1828343" cy="757201"/>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CLCD</a:t>
            </a:r>
            <a:endParaRPr lang="en-IN" b="1" dirty="0">
              <a:solidFill>
                <a:schemeClr val="tx1"/>
              </a:solidFill>
              <a:latin typeface="Times New Roman" pitchFamily="18" charset="0"/>
              <a:cs typeface="Times New Roman" pitchFamily="18" charset="0"/>
            </a:endParaRPr>
          </a:p>
        </p:txBody>
      </p:sp>
      <p:sp>
        <p:nvSpPr>
          <p:cNvPr id="33" name="Rectangle: Rounded Corners 6">
            <a:extLst>
              <a:ext uri="{FF2B5EF4-FFF2-40B4-BE49-F238E27FC236}">
                <a16:creationId xmlns:a16="http://schemas.microsoft.com/office/drawing/2014/main" xmlns="" id="{C8A8F726-14B8-FF7C-768C-0FC557C7345E}"/>
              </a:ext>
            </a:extLst>
          </p:cNvPr>
          <p:cNvSpPr/>
          <p:nvPr/>
        </p:nvSpPr>
        <p:spPr>
          <a:xfrm>
            <a:off x="918538" y="3271071"/>
            <a:ext cx="1828343" cy="757201"/>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I2C</a:t>
            </a:r>
          </a:p>
          <a:p>
            <a:pPr algn="ctr"/>
            <a:r>
              <a:rPr lang="en-GB" b="1" dirty="0" smtClean="0">
                <a:solidFill>
                  <a:schemeClr val="tx1"/>
                </a:solidFill>
                <a:latin typeface="Times New Roman" pitchFamily="18" charset="0"/>
                <a:cs typeface="Times New Roman" pitchFamily="18" charset="0"/>
              </a:rPr>
              <a:t>RTC/EEPROM</a:t>
            </a:r>
            <a:endParaRPr lang="en-IN" b="1" dirty="0">
              <a:solidFill>
                <a:schemeClr val="tx1"/>
              </a:solidFill>
              <a:latin typeface="Times New Roman" pitchFamily="18" charset="0"/>
              <a:cs typeface="Times New Roman" pitchFamily="18" charset="0"/>
            </a:endParaRPr>
          </a:p>
        </p:txBody>
      </p:sp>
      <p:sp>
        <p:nvSpPr>
          <p:cNvPr id="34" name="Rectangle: Rounded Corners 6">
            <a:extLst>
              <a:ext uri="{FF2B5EF4-FFF2-40B4-BE49-F238E27FC236}">
                <a16:creationId xmlns:a16="http://schemas.microsoft.com/office/drawing/2014/main" xmlns="" id="{C8A8F726-14B8-FF7C-768C-0FC557C7345E}"/>
              </a:ext>
            </a:extLst>
          </p:cNvPr>
          <p:cNvSpPr/>
          <p:nvPr/>
        </p:nvSpPr>
        <p:spPr>
          <a:xfrm>
            <a:off x="3365315" y="5896039"/>
            <a:ext cx="2384949" cy="757201"/>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POTENTIOMETER</a:t>
            </a:r>
            <a:endParaRPr lang="en-IN" b="1" dirty="0">
              <a:solidFill>
                <a:schemeClr val="tx1"/>
              </a:solidFill>
              <a:latin typeface="Times New Roman" pitchFamily="18" charset="0"/>
              <a:cs typeface="Times New Roman" pitchFamily="18" charset="0"/>
            </a:endParaRPr>
          </a:p>
        </p:txBody>
      </p:sp>
      <p:sp>
        <p:nvSpPr>
          <p:cNvPr id="35" name="Rectangle: Rounded Corners 6">
            <a:extLst>
              <a:ext uri="{FF2B5EF4-FFF2-40B4-BE49-F238E27FC236}">
                <a16:creationId xmlns:a16="http://schemas.microsoft.com/office/drawing/2014/main" xmlns="" id="{C8A8F726-14B8-FF7C-768C-0FC557C7345E}"/>
              </a:ext>
            </a:extLst>
          </p:cNvPr>
          <p:cNvSpPr/>
          <p:nvPr/>
        </p:nvSpPr>
        <p:spPr>
          <a:xfrm>
            <a:off x="937931" y="4334222"/>
            <a:ext cx="1828343" cy="757201"/>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MATRIX KEYPAD</a:t>
            </a:r>
            <a:endParaRPr lang="en-IN" b="1" dirty="0">
              <a:solidFill>
                <a:schemeClr val="tx1"/>
              </a:solidFill>
              <a:latin typeface="Times New Roman" pitchFamily="18" charset="0"/>
              <a:cs typeface="Times New Roman" pitchFamily="18" charset="0"/>
            </a:endParaRPr>
          </a:p>
        </p:txBody>
      </p:sp>
      <p:sp>
        <p:nvSpPr>
          <p:cNvPr id="36" name="Rectangle: Rounded Corners 6">
            <a:extLst>
              <a:ext uri="{FF2B5EF4-FFF2-40B4-BE49-F238E27FC236}">
                <a16:creationId xmlns:a16="http://schemas.microsoft.com/office/drawing/2014/main" xmlns="" id="{C8A8F726-14B8-FF7C-768C-0FC557C7345E}"/>
              </a:ext>
            </a:extLst>
          </p:cNvPr>
          <p:cNvSpPr/>
          <p:nvPr/>
        </p:nvSpPr>
        <p:spPr>
          <a:xfrm>
            <a:off x="6350450" y="4461663"/>
            <a:ext cx="1828343" cy="757201"/>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ADC</a:t>
            </a:r>
            <a:endParaRPr lang="en-IN" b="1" dirty="0">
              <a:solidFill>
                <a:schemeClr val="tx1"/>
              </a:solidFill>
              <a:latin typeface="Times New Roman" pitchFamily="18" charset="0"/>
              <a:cs typeface="Times New Roman" pitchFamily="18" charset="0"/>
            </a:endParaRPr>
          </a:p>
        </p:txBody>
      </p:sp>
      <p:sp>
        <p:nvSpPr>
          <p:cNvPr id="37" name="Rectangle: Rounded Corners 2">
            <a:extLst>
              <a:ext uri="{FF2B5EF4-FFF2-40B4-BE49-F238E27FC236}">
                <a16:creationId xmlns:a16="http://schemas.microsoft.com/office/drawing/2014/main" xmlns="" id="{756EFB1C-4BD2-BA18-7165-86F3BE276828}"/>
              </a:ext>
            </a:extLst>
          </p:cNvPr>
          <p:cNvSpPr/>
          <p:nvPr/>
        </p:nvSpPr>
        <p:spPr>
          <a:xfrm>
            <a:off x="3540685" y="1823288"/>
            <a:ext cx="2034209" cy="3652766"/>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PIC18F4580</a:t>
            </a:r>
          </a:p>
          <a:p>
            <a:pPr algn="ctr"/>
            <a:r>
              <a:rPr lang="en-GB" b="1" dirty="0" smtClean="0">
                <a:solidFill>
                  <a:schemeClr val="tx1"/>
                </a:solidFill>
                <a:latin typeface="Times New Roman" pitchFamily="18" charset="0"/>
                <a:cs typeface="Times New Roman" pitchFamily="18" charset="0"/>
              </a:rPr>
              <a:t>MICRO</a:t>
            </a:r>
          </a:p>
          <a:p>
            <a:pPr algn="ctr"/>
            <a:r>
              <a:rPr lang="en-GB" b="1" dirty="0" smtClean="0">
                <a:solidFill>
                  <a:schemeClr val="tx1"/>
                </a:solidFill>
                <a:latin typeface="Times New Roman" pitchFamily="18" charset="0"/>
                <a:cs typeface="Times New Roman" pitchFamily="18" charset="0"/>
              </a:rPr>
              <a:t>CONTROLLER</a:t>
            </a:r>
            <a:endParaRPr lang="en-IN" b="1" dirty="0">
              <a:solidFill>
                <a:schemeClr val="tx1"/>
              </a:solidFill>
              <a:latin typeface="Times New Roman" pitchFamily="18" charset="0"/>
              <a:cs typeface="Times New Roman" pitchFamily="18" charset="0"/>
            </a:endParaRPr>
          </a:p>
        </p:txBody>
      </p:sp>
      <p:sp>
        <p:nvSpPr>
          <p:cNvPr id="38" name="Arrow: Right 13">
            <a:extLst>
              <a:ext uri="{FF2B5EF4-FFF2-40B4-BE49-F238E27FC236}">
                <a16:creationId xmlns:a16="http://schemas.microsoft.com/office/drawing/2014/main" xmlns="" id="{CDF91A30-25C2-D580-2DEE-1F83589F167B}"/>
              </a:ext>
            </a:extLst>
          </p:cNvPr>
          <p:cNvSpPr/>
          <p:nvPr/>
        </p:nvSpPr>
        <p:spPr>
          <a:xfrm rot="10800000">
            <a:off x="2731481" y="3386302"/>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9" name="Arrow: Right 13">
            <a:extLst>
              <a:ext uri="{FF2B5EF4-FFF2-40B4-BE49-F238E27FC236}">
                <a16:creationId xmlns:a16="http://schemas.microsoft.com/office/drawing/2014/main" xmlns="" id="{CDF91A30-25C2-D580-2DEE-1F83589F167B}"/>
              </a:ext>
            </a:extLst>
          </p:cNvPr>
          <p:cNvSpPr/>
          <p:nvPr/>
        </p:nvSpPr>
        <p:spPr>
          <a:xfrm rot="10800000">
            <a:off x="5561829" y="4682052"/>
            <a:ext cx="796653" cy="316422"/>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Arrow: Right 13">
            <a:extLst>
              <a:ext uri="{FF2B5EF4-FFF2-40B4-BE49-F238E27FC236}">
                <a16:creationId xmlns:a16="http://schemas.microsoft.com/office/drawing/2014/main" xmlns="" id="{CDF91A30-25C2-D580-2DEE-1F83589F167B}"/>
              </a:ext>
            </a:extLst>
          </p:cNvPr>
          <p:cNvSpPr/>
          <p:nvPr/>
        </p:nvSpPr>
        <p:spPr>
          <a:xfrm>
            <a:off x="2748589" y="3702724"/>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1" name="Arrow: Right 13">
            <a:extLst>
              <a:ext uri="{FF2B5EF4-FFF2-40B4-BE49-F238E27FC236}">
                <a16:creationId xmlns:a16="http://schemas.microsoft.com/office/drawing/2014/main" xmlns="" id="{CDF91A30-25C2-D580-2DEE-1F83589F167B}"/>
              </a:ext>
            </a:extLst>
          </p:cNvPr>
          <p:cNvSpPr/>
          <p:nvPr/>
        </p:nvSpPr>
        <p:spPr>
          <a:xfrm rot="10800000">
            <a:off x="2731480" y="2194819"/>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2" name="Arrow: Right 13">
            <a:extLst>
              <a:ext uri="{FF2B5EF4-FFF2-40B4-BE49-F238E27FC236}">
                <a16:creationId xmlns:a16="http://schemas.microsoft.com/office/drawing/2014/main" xmlns="" id="{CDF91A30-25C2-D580-2DEE-1F83589F167B}"/>
              </a:ext>
            </a:extLst>
          </p:cNvPr>
          <p:cNvSpPr/>
          <p:nvPr/>
        </p:nvSpPr>
        <p:spPr>
          <a:xfrm>
            <a:off x="2741970" y="2491487"/>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3" name="Arrow: Right 13">
            <a:extLst>
              <a:ext uri="{FF2B5EF4-FFF2-40B4-BE49-F238E27FC236}">
                <a16:creationId xmlns:a16="http://schemas.microsoft.com/office/drawing/2014/main" xmlns="" id="{CDF91A30-25C2-D580-2DEE-1F83589F167B}"/>
              </a:ext>
            </a:extLst>
          </p:cNvPr>
          <p:cNvSpPr/>
          <p:nvPr/>
        </p:nvSpPr>
        <p:spPr>
          <a:xfrm rot="10800000">
            <a:off x="2741970" y="4461663"/>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4" name="Arrow: Right 13">
            <a:extLst>
              <a:ext uri="{FF2B5EF4-FFF2-40B4-BE49-F238E27FC236}">
                <a16:creationId xmlns:a16="http://schemas.microsoft.com/office/drawing/2014/main" xmlns="" id="{CDF91A30-25C2-D580-2DEE-1F83589F167B}"/>
              </a:ext>
            </a:extLst>
          </p:cNvPr>
          <p:cNvSpPr/>
          <p:nvPr/>
        </p:nvSpPr>
        <p:spPr>
          <a:xfrm>
            <a:off x="2768935" y="4682052"/>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5" name="Rectangle: Rounded Corners 6">
            <a:extLst>
              <a:ext uri="{FF2B5EF4-FFF2-40B4-BE49-F238E27FC236}">
                <a16:creationId xmlns:a16="http://schemas.microsoft.com/office/drawing/2014/main" xmlns="" id="{C8A8F726-14B8-FF7C-768C-0FC557C7345E}"/>
              </a:ext>
            </a:extLst>
          </p:cNvPr>
          <p:cNvSpPr/>
          <p:nvPr/>
        </p:nvSpPr>
        <p:spPr>
          <a:xfrm>
            <a:off x="6359770" y="3227852"/>
            <a:ext cx="1828343" cy="757201"/>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latin typeface="Times New Roman" pitchFamily="18" charset="0"/>
                <a:cs typeface="Times New Roman" pitchFamily="18" charset="0"/>
              </a:rPr>
              <a:t>UART</a:t>
            </a:r>
            <a:endParaRPr lang="en-IN" b="1" dirty="0">
              <a:solidFill>
                <a:schemeClr val="tx1"/>
              </a:solidFill>
              <a:latin typeface="Times New Roman" pitchFamily="18" charset="0"/>
              <a:cs typeface="Times New Roman" pitchFamily="18" charset="0"/>
            </a:endParaRPr>
          </a:p>
        </p:txBody>
      </p:sp>
      <p:sp>
        <p:nvSpPr>
          <p:cNvPr id="46" name="Arrow: Right 13">
            <a:extLst>
              <a:ext uri="{FF2B5EF4-FFF2-40B4-BE49-F238E27FC236}">
                <a16:creationId xmlns:a16="http://schemas.microsoft.com/office/drawing/2014/main" xmlns="" id="{CDF91A30-25C2-D580-2DEE-1F83589F167B}"/>
              </a:ext>
            </a:extLst>
          </p:cNvPr>
          <p:cNvSpPr/>
          <p:nvPr/>
        </p:nvSpPr>
        <p:spPr>
          <a:xfrm>
            <a:off x="5574894" y="3649671"/>
            <a:ext cx="809204"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7" name="Arrow: Right 13">
            <a:extLst>
              <a:ext uri="{FF2B5EF4-FFF2-40B4-BE49-F238E27FC236}">
                <a16:creationId xmlns:a16="http://schemas.microsoft.com/office/drawing/2014/main" xmlns="" id="{CDF91A30-25C2-D580-2DEE-1F83589F167B}"/>
              </a:ext>
            </a:extLst>
          </p:cNvPr>
          <p:cNvSpPr/>
          <p:nvPr/>
        </p:nvSpPr>
        <p:spPr>
          <a:xfrm rot="5400000">
            <a:off x="4182137" y="5595957"/>
            <a:ext cx="437673"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8" name="Arrow: Right 13">
            <a:extLst>
              <a:ext uri="{FF2B5EF4-FFF2-40B4-BE49-F238E27FC236}">
                <a16:creationId xmlns:a16="http://schemas.microsoft.com/office/drawing/2014/main" xmlns="" id="{CDF91A30-25C2-D580-2DEE-1F83589F167B}"/>
              </a:ext>
            </a:extLst>
          </p:cNvPr>
          <p:cNvSpPr/>
          <p:nvPr/>
        </p:nvSpPr>
        <p:spPr>
          <a:xfrm rot="16200000">
            <a:off x="4588128" y="5565747"/>
            <a:ext cx="437673" cy="210315"/>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981462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500"/>
                                        <p:tgtEl>
                                          <p:spTgt spid="6"/>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ircle(in)">
                                      <p:cBhvr>
                                        <p:cTn id="10" dur="500"/>
                                        <p:tgtEl>
                                          <p:spTgt spid="7"/>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circle(in)">
                                      <p:cBhvr>
                                        <p:cTn id="13" dur="500"/>
                                        <p:tgtEl>
                                          <p:spTgt spid="8"/>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circle(in)">
                                      <p:cBhvr>
                                        <p:cTn id="16" dur="500"/>
                                        <p:tgtEl>
                                          <p:spTgt spid="10"/>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circle(in)">
                                      <p:cBhvr>
                                        <p:cTn id="19" dur="500"/>
                                        <p:tgtEl>
                                          <p:spTgt spid="11"/>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circle(in)">
                                      <p:cBhvr>
                                        <p:cTn id="22" dur="500"/>
                                        <p:tgtEl>
                                          <p:spTgt spid="12"/>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circle(in)">
                                      <p:cBhvr>
                                        <p:cTn id="25" dur="500"/>
                                        <p:tgtEl>
                                          <p:spTgt spid="13"/>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circle(in)">
                                      <p:cBhvr>
                                        <p:cTn id="28" dur="500"/>
                                        <p:tgtEl>
                                          <p:spTgt spid="16"/>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circle(in)">
                                      <p:cBhvr>
                                        <p:cTn id="31" dur="500"/>
                                        <p:tgtEl>
                                          <p:spTgt spid="18"/>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circle(in)">
                                      <p:cBhvr>
                                        <p:cTn id="34" dur="500"/>
                                        <p:tgtEl>
                                          <p:spTgt spid="20"/>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circle(in)">
                                      <p:cBhvr>
                                        <p:cTn id="37" dur="500"/>
                                        <p:tgtEl>
                                          <p:spTgt spid="22"/>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circle(in)">
                                      <p:cBhvr>
                                        <p:cTn id="40" dur="500"/>
                                        <p:tgtEl>
                                          <p:spTgt spid="23"/>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circle(in)">
                                      <p:cBhvr>
                                        <p:cTn id="43" dur="500"/>
                                        <p:tgtEl>
                                          <p:spTgt spid="24"/>
                                        </p:tgtEl>
                                      </p:cBhvr>
                                    </p:animEffect>
                                  </p:childTnLst>
                                </p:cTn>
                              </p:par>
                              <p:par>
                                <p:cTn id="44" presetID="6" presetClass="entr" presetSubtype="16"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circle(in)">
                                      <p:cBhvr>
                                        <p:cTn id="46" dur="500"/>
                                        <p:tgtEl>
                                          <p:spTgt spid="25"/>
                                        </p:tgtEl>
                                      </p:cBhvr>
                                    </p:animEffect>
                                  </p:childTnLst>
                                </p:cTn>
                              </p:par>
                              <p:par>
                                <p:cTn id="47" presetID="6" presetClass="entr" presetSubtype="16"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circle(in)">
                                      <p:cBhvr>
                                        <p:cTn id="49" dur="500"/>
                                        <p:tgtEl>
                                          <p:spTgt spid="26"/>
                                        </p:tgtEl>
                                      </p:cBhvr>
                                    </p:animEffect>
                                  </p:childTnLst>
                                </p:cTn>
                              </p:par>
                              <p:par>
                                <p:cTn id="50" presetID="6" presetClass="entr" presetSubtype="16"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circle(in)">
                                      <p:cBhvr>
                                        <p:cTn id="52" dur="500"/>
                                        <p:tgtEl>
                                          <p:spTgt spid="27"/>
                                        </p:tgtEl>
                                      </p:cBhvr>
                                    </p:animEffect>
                                  </p:childTnLst>
                                </p:cTn>
                              </p:par>
                              <p:par>
                                <p:cTn id="53" presetID="6" presetClass="entr" presetSubtype="16"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circle(in)">
                                      <p:cBhvr>
                                        <p:cTn id="55" dur="500"/>
                                        <p:tgtEl>
                                          <p:spTgt spid="28"/>
                                        </p:tgtEl>
                                      </p:cBhvr>
                                    </p:animEffect>
                                  </p:childTnLst>
                                </p:cTn>
                              </p:par>
                              <p:par>
                                <p:cTn id="56" presetID="6" presetClass="entr" presetSubtype="16"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circle(in)">
                                      <p:cBhvr>
                                        <p:cTn id="58" dur="500"/>
                                        <p:tgtEl>
                                          <p:spTgt spid="29"/>
                                        </p:tgtEl>
                                      </p:cBhvr>
                                    </p:animEffect>
                                  </p:childTnLst>
                                </p:cTn>
                              </p:par>
                              <p:par>
                                <p:cTn id="59" presetID="6" presetClass="entr" presetSubtype="16"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circle(in)">
                                      <p:cBhvr>
                                        <p:cTn id="61" dur="500"/>
                                        <p:tgtEl>
                                          <p:spTgt spid="30"/>
                                        </p:tgtEl>
                                      </p:cBhvr>
                                    </p:animEffect>
                                  </p:childTnLst>
                                </p:cTn>
                              </p:par>
                              <p:par>
                                <p:cTn id="62" presetID="6" presetClass="entr" presetSubtype="16"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circle(in)">
                                      <p:cBhvr>
                                        <p:cTn id="64" dur="500"/>
                                        <p:tgtEl>
                                          <p:spTgt spid="31"/>
                                        </p:tgtEl>
                                      </p:cBhvr>
                                    </p:animEffect>
                                  </p:childTnLst>
                                </p:cTn>
                              </p:par>
                              <p:par>
                                <p:cTn id="65" presetID="6" presetClass="entr" presetSubtype="16"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circle(in)">
                                      <p:cBhvr>
                                        <p:cTn id="67" dur="500"/>
                                        <p:tgtEl>
                                          <p:spTgt spid="32"/>
                                        </p:tgtEl>
                                      </p:cBhvr>
                                    </p:animEffect>
                                  </p:childTnLst>
                                </p:cTn>
                              </p:par>
                              <p:par>
                                <p:cTn id="68" presetID="6" presetClass="entr" presetSubtype="16"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circle(in)">
                                      <p:cBhvr>
                                        <p:cTn id="70" dur="500"/>
                                        <p:tgtEl>
                                          <p:spTgt spid="33"/>
                                        </p:tgtEl>
                                      </p:cBhvr>
                                    </p:animEffect>
                                  </p:childTnLst>
                                </p:cTn>
                              </p:par>
                              <p:par>
                                <p:cTn id="71" presetID="6" presetClass="entr" presetSubtype="16" fill="hold" grpId="0" nodeType="with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circle(in)">
                                      <p:cBhvr>
                                        <p:cTn id="73" dur="500"/>
                                        <p:tgtEl>
                                          <p:spTgt spid="34"/>
                                        </p:tgtEl>
                                      </p:cBhvr>
                                    </p:animEffect>
                                  </p:childTnLst>
                                </p:cTn>
                              </p:par>
                              <p:par>
                                <p:cTn id="74" presetID="6" presetClass="entr" presetSubtype="16" fill="hold" grpId="0" nodeType="with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circle(in)">
                                      <p:cBhvr>
                                        <p:cTn id="76" dur="500"/>
                                        <p:tgtEl>
                                          <p:spTgt spid="35"/>
                                        </p:tgtEl>
                                      </p:cBhvr>
                                    </p:animEffect>
                                  </p:childTnLst>
                                </p:cTn>
                              </p:par>
                              <p:par>
                                <p:cTn id="77" presetID="6" presetClass="entr" presetSubtype="16" fill="hold" grpId="0" nodeType="with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circle(in)">
                                      <p:cBhvr>
                                        <p:cTn id="79" dur="500"/>
                                        <p:tgtEl>
                                          <p:spTgt spid="36"/>
                                        </p:tgtEl>
                                      </p:cBhvr>
                                    </p:animEffect>
                                  </p:childTnLst>
                                </p:cTn>
                              </p:par>
                              <p:par>
                                <p:cTn id="80" presetID="6" presetClass="entr" presetSubtype="16" fill="hold" grpId="0" nodeType="withEffect">
                                  <p:stCondLst>
                                    <p:cond delay="0"/>
                                  </p:stCondLst>
                                  <p:childTnLst>
                                    <p:set>
                                      <p:cBhvr>
                                        <p:cTn id="81" dur="1" fill="hold">
                                          <p:stCondLst>
                                            <p:cond delay="0"/>
                                          </p:stCondLst>
                                        </p:cTn>
                                        <p:tgtEl>
                                          <p:spTgt spid="37"/>
                                        </p:tgtEl>
                                        <p:attrNameLst>
                                          <p:attrName>style.visibility</p:attrName>
                                        </p:attrNameLst>
                                      </p:cBhvr>
                                      <p:to>
                                        <p:strVal val="visible"/>
                                      </p:to>
                                    </p:set>
                                    <p:animEffect transition="in" filter="circle(in)">
                                      <p:cBhvr>
                                        <p:cTn id="82" dur="500"/>
                                        <p:tgtEl>
                                          <p:spTgt spid="37"/>
                                        </p:tgtEl>
                                      </p:cBhvr>
                                    </p:animEffect>
                                  </p:childTnLst>
                                </p:cTn>
                              </p:par>
                              <p:par>
                                <p:cTn id="83" presetID="6" presetClass="entr" presetSubtype="16" fill="hold" grpId="0" nodeType="with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circle(in)">
                                      <p:cBhvr>
                                        <p:cTn id="85" dur="500"/>
                                        <p:tgtEl>
                                          <p:spTgt spid="38"/>
                                        </p:tgtEl>
                                      </p:cBhvr>
                                    </p:animEffect>
                                  </p:childTnLst>
                                </p:cTn>
                              </p:par>
                              <p:par>
                                <p:cTn id="86" presetID="6" presetClass="entr" presetSubtype="16" fill="hold" grpId="0" nodeType="with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circle(in)">
                                      <p:cBhvr>
                                        <p:cTn id="88" dur="500"/>
                                        <p:tgtEl>
                                          <p:spTgt spid="39"/>
                                        </p:tgtEl>
                                      </p:cBhvr>
                                    </p:animEffect>
                                  </p:childTnLst>
                                </p:cTn>
                              </p:par>
                              <p:par>
                                <p:cTn id="89" presetID="6" presetClass="entr" presetSubtype="16" fill="hold" grpId="0" nodeType="withEffect">
                                  <p:stCondLst>
                                    <p:cond delay="0"/>
                                  </p:stCondLst>
                                  <p:childTnLst>
                                    <p:set>
                                      <p:cBhvr>
                                        <p:cTn id="90" dur="1" fill="hold">
                                          <p:stCondLst>
                                            <p:cond delay="0"/>
                                          </p:stCondLst>
                                        </p:cTn>
                                        <p:tgtEl>
                                          <p:spTgt spid="40"/>
                                        </p:tgtEl>
                                        <p:attrNameLst>
                                          <p:attrName>style.visibility</p:attrName>
                                        </p:attrNameLst>
                                      </p:cBhvr>
                                      <p:to>
                                        <p:strVal val="visible"/>
                                      </p:to>
                                    </p:set>
                                    <p:animEffect transition="in" filter="circle(in)">
                                      <p:cBhvr>
                                        <p:cTn id="91" dur="500"/>
                                        <p:tgtEl>
                                          <p:spTgt spid="40"/>
                                        </p:tgtEl>
                                      </p:cBhvr>
                                    </p:animEffect>
                                  </p:childTnLst>
                                </p:cTn>
                              </p:par>
                              <p:par>
                                <p:cTn id="92" presetID="6" presetClass="entr" presetSubtype="16" fill="hold" grpId="0" nodeType="withEffect">
                                  <p:stCondLst>
                                    <p:cond delay="0"/>
                                  </p:stCondLst>
                                  <p:childTnLst>
                                    <p:set>
                                      <p:cBhvr>
                                        <p:cTn id="93" dur="1" fill="hold">
                                          <p:stCondLst>
                                            <p:cond delay="0"/>
                                          </p:stCondLst>
                                        </p:cTn>
                                        <p:tgtEl>
                                          <p:spTgt spid="41"/>
                                        </p:tgtEl>
                                        <p:attrNameLst>
                                          <p:attrName>style.visibility</p:attrName>
                                        </p:attrNameLst>
                                      </p:cBhvr>
                                      <p:to>
                                        <p:strVal val="visible"/>
                                      </p:to>
                                    </p:set>
                                    <p:animEffect transition="in" filter="circle(in)">
                                      <p:cBhvr>
                                        <p:cTn id="94" dur="500"/>
                                        <p:tgtEl>
                                          <p:spTgt spid="41"/>
                                        </p:tgtEl>
                                      </p:cBhvr>
                                    </p:animEffect>
                                  </p:childTnLst>
                                </p:cTn>
                              </p:par>
                              <p:par>
                                <p:cTn id="95" presetID="6" presetClass="entr" presetSubtype="16" fill="hold" grpId="0" nodeType="withEffect">
                                  <p:stCondLst>
                                    <p:cond delay="0"/>
                                  </p:stCondLst>
                                  <p:childTnLst>
                                    <p:set>
                                      <p:cBhvr>
                                        <p:cTn id="96" dur="1" fill="hold">
                                          <p:stCondLst>
                                            <p:cond delay="0"/>
                                          </p:stCondLst>
                                        </p:cTn>
                                        <p:tgtEl>
                                          <p:spTgt spid="42"/>
                                        </p:tgtEl>
                                        <p:attrNameLst>
                                          <p:attrName>style.visibility</p:attrName>
                                        </p:attrNameLst>
                                      </p:cBhvr>
                                      <p:to>
                                        <p:strVal val="visible"/>
                                      </p:to>
                                    </p:set>
                                    <p:animEffect transition="in" filter="circle(in)">
                                      <p:cBhvr>
                                        <p:cTn id="97" dur="500"/>
                                        <p:tgtEl>
                                          <p:spTgt spid="42"/>
                                        </p:tgtEl>
                                      </p:cBhvr>
                                    </p:animEffect>
                                  </p:childTnLst>
                                </p:cTn>
                              </p:par>
                              <p:par>
                                <p:cTn id="98" presetID="6" presetClass="entr" presetSubtype="16" fill="hold" grpId="0" nodeType="withEffect">
                                  <p:stCondLst>
                                    <p:cond delay="0"/>
                                  </p:stCondLst>
                                  <p:childTnLst>
                                    <p:set>
                                      <p:cBhvr>
                                        <p:cTn id="99" dur="1" fill="hold">
                                          <p:stCondLst>
                                            <p:cond delay="0"/>
                                          </p:stCondLst>
                                        </p:cTn>
                                        <p:tgtEl>
                                          <p:spTgt spid="43"/>
                                        </p:tgtEl>
                                        <p:attrNameLst>
                                          <p:attrName>style.visibility</p:attrName>
                                        </p:attrNameLst>
                                      </p:cBhvr>
                                      <p:to>
                                        <p:strVal val="visible"/>
                                      </p:to>
                                    </p:set>
                                    <p:animEffect transition="in" filter="circle(in)">
                                      <p:cBhvr>
                                        <p:cTn id="100" dur="500"/>
                                        <p:tgtEl>
                                          <p:spTgt spid="43"/>
                                        </p:tgtEl>
                                      </p:cBhvr>
                                    </p:animEffect>
                                  </p:childTnLst>
                                </p:cTn>
                              </p:par>
                              <p:par>
                                <p:cTn id="101" presetID="6" presetClass="entr" presetSubtype="16" fill="hold" grpId="0" nodeType="withEffect">
                                  <p:stCondLst>
                                    <p:cond delay="0"/>
                                  </p:stCondLst>
                                  <p:childTnLst>
                                    <p:set>
                                      <p:cBhvr>
                                        <p:cTn id="102" dur="1" fill="hold">
                                          <p:stCondLst>
                                            <p:cond delay="0"/>
                                          </p:stCondLst>
                                        </p:cTn>
                                        <p:tgtEl>
                                          <p:spTgt spid="44"/>
                                        </p:tgtEl>
                                        <p:attrNameLst>
                                          <p:attrName>style.visibility</p:attrName>
                                        </p:attrNameLst>
                                      </p:cBhvr>
                                      <p:to>
                                        <p:strVal val="visible"/>
                                      </p:to>
                                    </p:set>
                                    <p:animEffect transition="in" filter="circle(in)">
                                      <p:cBhvr>
                                        <p:cTn id="103" dur="500"/>
                                        <p:tgtEl>
                                          <p:spTgt spid="44"/>
                                        </p:tgtEl>
                                      </p:cBhvr>
                                    </p:animEffect>
                                  </p:childTnLst>
                                </p:cTn>
                              </p:par>
                              <p:par>
                                <p:cTn id="104" presetID="6" presetClass="entr" presetSubtype="16" fill="hold" grpId="0" nodeType="withEffect">
                                  <p:stCondLst>
                                    <p:cond delay="0"/>
                                  </p:stCondLst>
                                  <p:childTnLst>
                                    <p:set>
                                      <p:cBhvr>
                                        <p:cTn id="105" dur="1" fill="hold">
                                          <p:stCondLst>
                                            <p:cond delay="0"/>
                                          </p:stCondLst>
                                        </p:cTn>
                                        <p:tgtEl>
                                          <p:spTgt spid="45"/>
                                        </p:tgtEl>
                                        <p:attrNameLst>
                                          <p:attrName>style.visibility</p:attrName>
                                        </p:attrNameLst>
                                      </p:cBhvr>
                                      <p:to>
                                        <p:strVal val="visible"/>
                                      </p:to>
                                    </p:set>
                                    <p:animEffect transition="in" filter="circle(in)">
                                      <p:cBhvr>
                                        <p:cTn id="106" dur="500"/>
                                        <p:tgtEl>
                                          <p:spTgt spid="45"/>
                                        </p:tgtEl>
                                      </p:cBhvr>
                                    </p:animEffect>
                                  </p:childTnLst>
                                </p:cTn>
                              </p:par>
                              <p:par>
                                <p:cTn id="107" presetID="6" presetClass="entr" presetSubtype="16" fill="hold" grpId="0" nodeType="withEffect">
                                  <p:stCondLst>
                                    <p:cond delay="0"/>
                                  </p:stCondLst>
                                  <p:childTnLst>
                                    <p:set>
                                      <p:cBhvr>
                                        <p:cTn id="108" dur="1" fill="hold">
                                          <p:stCondLst>
                                            <p:cond delay="0"/>
                                          </p:stCondLst>
                                        </p:cTn>
                                        <p:tgtEl>
                                          <p:spTgt spid="46"/>
                                        </p:tgtEl>
                                        <p:attrNameLst>
                                          <p:attrName>style.visibility</p:attrName>
                                        </p:attrNameLst>
                                      </p:cBhvr>
                                      <p:to>
                                        <p:strVal val="visible"/>
                                      </p:to>
                                    </p:set>
                                    <p:animEffect transition="in" filter="circle(in)">
                                      <p:cBhvr>
                                        <p:cTn id="109" dur="500"/>
                                        <p:tgtEl>
                                          <p:spTgt spid="46"/>
                                        </p:tgtEl>
                                      </p:cBhvr>
                                    </p:animEffect>
                                  </p:childTnLst>
                                </p:cTn>
                              </p:par>
                              <p:par>
                                <p:cTn id="110" presetID="6" presetClass="entr" presetSubtype="16" fill="hold" grpId="0" nodeType="withEffect">
                                  <p:stCondLst>
                                    <p:cond delay="0"/>
                                  </p:stCondLst>
                                  <p:childTnLst>
                                    <p:set>
                                      <p:cBhvr>
                                        <p:cTn id="111" dur="1" fill="hold">
                                          <p:stCondLst>
                                            <p:cond delay="0"/>
                                          </p:stCondLst>
                                        </p:cTn>
                                        <p:tgtEl>
                                          <p:spTgt spid="47"/>
                                        </p:tgtEl>
                                        <p:attrNameLst>
                                          <p:attrName>style.visibility</p:attrName>
                                        </p:attrNameLst>
                                      </p:cBhvr>
                                      <p:to>
                                        <p:strVal val="visible"/>
                                      </p:to>
                                    </p:set>
                                    <p:animEffect transition="in" filter="circle(in)">
                                      <p:cBhvr>
                                        <p:cTn id="112" dur="500"/>
                                        <p:tgtEl>
                                          <p:spTgt spid="47"/>
                                        </p:tgtEl>
                                      </p:cBhvr>
                                    </p:animEffect>
                                  </p:childTnLst>
                                </p:cTn>
                              </p:par>
                              <p:par>
                                <p:cTn id="113" presetID="6" presetClass="entr" presetSubtype="16" fill="hold" grpId="0" nodeType="withEffect">
                                  <p:stCondLst>
                                    <p:cond delay="0"/>
                                  </p:stCondLst>
                                  <p:childTnLst>
                                    <p:set>
                                      <p:cBhvr>
                                        <p:cTn id="114" dur="1" fill="hold">
                                          <p:stCondLst>
                                            <p:cond delay="0"/>
                                          </p:stCondLst>
                                        </p:cTn>
                                        <p:tgtEl>
                                          <p:spTgt spid="48"/>
                                        </p:tgtEl>
                                        <p:attrNameLst>
                                          <p:attrName>style.visibility</p:attrName>
                                        </p:attrNameLst>
                                      </p:cBhvr>
                                      <p:to>
                                        <p:strVal val="visible"/>
                                      </p:to>
                                    </p:set>
                                    <p:animEffect transition="in" filter="circle(in)">
                                      <p:cBhvr>
                                        <p:cTn id="115" dur="500"/>
                                        <p:tgtEl>
                                          <p:spTgt spid="48"/>
                                        </p:tgtEl>
                                      </p:cBhvr>
                                    </p:animEffect>
                                  </p:childTnLst>
                                </p:cTn>
                              </p:par>
                              <p:par>
                                <p:cTn id="116" presetID="6" presetClass="entr" presetSubtype="16" fill="hold" nodeType="withEffect">
                                  <p:stCondLst>
                                    <p:cond delay="0"/>
                                  </p:stCondLst>
                                  <p:childTnLst>
                                    <p:set>
                                      <p:cBhvr>
                                        <p:cTn id="117" dur="1" fill="hold">
                                          <p:stCondLst>
                                            <p:cond delay="0"/>
                                          </p:stCondLst>
                                        </p:cTn>
                                        <p:tgtEl>
                                          <p:spTgt spid="5122"/>
                                        </p:tgtEl>
                                        <p:attrNameLst>
                                          <p:attrName>style.visibility</p:attrName>
                                        </p:attrNameLst>
                                      </p:cBhvr>
                                      <p:to>
                                        <p:strVal val="visible"/>
                                      </p:to>
                                    </p:set>
                                    <p:animEffect transition="in" filter="circle(in)">
                                      <p:cBhvr>
                                        <p:cTn id="118" dur="500"/>
                                        <p:tgtEl>
                                          <p:spTgt spid="5122"/>
                                        </p:tgtEl>
                                      </p:cBhvr>
                                    </p:animEffect>
                                  </p:childTnLst>
                                </p:cTn>
                              </p:par>
                              <p:par>
                                <p:cTn id="119" presetID="6" presetClass="entr" presetSubtype="16" fill="hold" grpId="0" nodeType="withEffect">
                                  <p:stCondLst>
                                    <p:cond delay="0"/>
                                  </p:stCondLst>
                                  <p:childTnLst>
                                    <p:set>
                                      <p:cBhvr>
                                        <p:cTn id="120" dur="1" fill="hold">
                                          <p:stCondLst>
                                            <p:cond delay="0"/>
                                          </p:stCondLst>
                                        </p:cTn>
                                        <p:tgtEl>
                                          <p:spTgt spid="2"/>
                                        </p:tgtEl>
                                        <p:attrNameLst>
                                          <p:attrName>style.visibility</p:attrName>
                                        </p:attrNameLst>
                                      </p:cBhvr>
                                      <p:to>
                                        <p:strVal val="visible"/>
                                      </p:to>
                                    </p:set>
                                    <p:animEffect transition="in" filter="circle(in)">
                                      <p:cBhvr>
                                        <p:cTn id="1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P spid="7" grpId="0" animBg="1"/>
      <p:bldP spid="8" grpId="0" animBg="1"/>
      <p:bldP spid="10" grpId="0" animBg="1"/>
      <p:bldP spid="11" grpId="0" animBg="1"/>
      <p:bldP spid="12" grpId="0" animBg="1"/>
      <p:bldP spid="13" grpId="0" animBg="1"/>
      <p:bldP spid="16" grpId="0" animBg="1"/>
      <p:bldP spid="18" grpId="0" animBg="1"/>
      <p:bldP spid="20"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DELL\AppData\Local\Temp\{06CB4A1E-17CB-47B0-AFA8-A7D7AFACA8EF}.t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763427" y="332656"/>
            <a:ext cx="3617144" cy="400110"/>
          </a:xfrm>
          <a:prstGeom prst="rect">
            <a:avLst/>
          </a:prstGeom>
        </p:spPr>
        <p:txBody>
          <a:bodyPr wrap="none">
            <a:spAutoFit/>
          </a:bodyPr>
          <a:lstStyle/>
          <a:p>
            <a:r>
              <a:rPr lang="en-IN" sz="2000" b="1" u="sng"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HARDWARE COMPONENTS</a:t>
            </a:r>
            <a:endParaRPr lang="en-IN" sz="2000" dirty="0">
              <a:solidFill>
                <a:schemeClr val="bg1"/>
              </a:solidFill>
            </a:endParaRPr>
          </a:p>
        </p:txBody>
      </p:sp>
      <p:sp>
        <p:nvSpPr>
          <p:cNvPr id="4" name="AutoShape 6" descr="16x2 LCD Display at best price in Thane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8" descr="16x2 LCD Display at best price in Thane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6608" t="16079" r="16743"/>
          <a:stretch/>
        </p:blipFill>
        <p:spPr bwMode="auto">
          <a:xfrm rot="5400000">
            <a:off x="2550603" y="1102444"/>
            <a:ext cx="4187953" cy="4653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ight Arrow 8"/>
          <p:cNvSpPr/>
          <p:nvPr/>
        </p:nvSpPr>
        <p:spPr>
          <a:xfrm>
            <a:off x="6228184" y="2636912"/>
            <a:ext cx="1080120" cy="45719"/>
          </a:xfrm>
          <a:prstGeom prst="rightArrow">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ight Arrow 14"/>
          <p:cNvSpPr/>
          <p:nvPr/>
        </p:nvSpPr>
        <p:spPr>
          <a:xfrm>
            <a:off x="6660232" y="1772816"/>
            <a:ext cx="1080120" cy="45719"/>
          </a:xfrm>
          <a:prstGeom prst="rightArrow">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ight Arrow 15"/>
          <p:cNvSpPr/>
          <p:nvPr/>
        </p:nvSpPr>
        <p:spPr>
          <a:xfrm rot="10800000">
            <a:off x="1666194" y="4653136"/>
            <a:ext cx="1080120" cy="45719"/>
          </a:xfrm>
          <a:prstGeom prst="rightArrow">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p:cNvSpPr txBox="1"/>
          <p:nvPr/>
        </p:nvSpPr>
        <p:spPr>
          <a:xfrm>
            <a:off x="7740352" y="1588150"/>
            <a:ext cx="838691" cy="369332"/>
          </a:xfrm>
          <a:prstGeom prst="rect">
            <a:avLst/>
          </a:prstGeom>
          <a:noFill/>
        </p:spPr>
        <p:txBody>
          <a:bodyPr wrap="none" rtlCol="0">
            <a:spAutoFit/>
          </a:bodyPr>
          <a:lstStyle/>
          <a:p>
            <a:r>
              <a:rPr lang="en-GB" b="1" dirty="0" smtClean="0">
                <a:solidFill>
                  <a:schemeClr val="bg1"/>
                </a:solidFill>
                <a:latin typeface="Times New Roman" pitchFamily="18" charset="0"/>
                <a:cs typeface="Times New Roman" pitchFamily="18" charset="0"/>
              </a:rPr>
              <a:t>CLCD</a:t>
            </a:r>
            <a:endParaRPr lang="en-IN" b="1" dirty="0">
              <a:solidFill>
                <a:schemeClr val="bg1"/>
              </a:solidFill>
              <a:latin typeface="Times New Roman" pitchFamily="18" charset="0"/>
              <a:cs typeface="Times New Roman" pitchFamily="18" charset="0"/>
            </a:endParaRPr>
          </a:p>
        </p:txBody>
      </p:sp>
      <p:sp>
        <p:nvSpPr>
          <p:cNvPr id="18" name="TextBox 17"/>
          <p:cNvSpPr txBox="1"/>
          <p:nvPr/>
        </p:nvSpPr>
        <p:spPr>
          <a:xfrm>
            <a:off x="482135" y="4375689"/>
            <a:ext cx="1187056" cy="646331"/>
          </a:xfrm>
          <a:prstGeom prst="rect">
            <a:avLst/>
          </a:prstGeom>
          <a:noFill/>
        </p:spPr>
        <p:txBody>
          <a:bodyPr wrap="none" rtlCol="0">
            <a:spAutoFit/>
          </a:bodyPr>
          <a:lstStyle/>
          <a:p>
            <a:r>
              <a:rPr lang="en-GB" b="1" dirty="0" smtClean="0">
                <a:solidFill>
                  <a:schemeClr val="bg1"/>
                </a:solidFill>
                <a:latin typeface="Times New Roman" pitchFamily="18" charset="0"/>
                <a:cs typeface="Times New Roman" pitchFamily="18" charset="0"/>
              </a:rPr>
              <a:t>MATRIX </a:t>
            </a:r>
          </a:p>
          <a:p>
            <a:r>
              <a:rPr lang="en-GB" b="1" dirty="0" smtClean="0">
                <a:solidFill>
                  <a:schemeClr val="bg1"/>
                </a:solidFill>
                <a:latin typeface="Times New Roman" pitchFamily="18" charset="0"/>
                <a:cs typeface="Times New Roman" pitchFamily="18" charset="0"/>
              </a:rPr>
              <a:t>KEYPAD</a:t>
            </a:r>
          </a:p>
        </p:txBody>
      </p:sp>
      <p:sp>
        <p:nvSpPr>
          <p:cNvPr id="19" name="TextBox 18"/>
          <p:cNvSpPr txBox="1"/>
          <p:nvPr/>
        </p:nvSpPr>
        <p:spPr>
          <a:xfrm>
            <a:off x="7308304" y="2435610"/>
            <a:ext cx="1582484" cy="646331"/>
          </a:xfrm>
          <a:prstGeom prst="rect">
            <a:avLst/>
          </a:prstGeom>
          <a:noFill/>
        </p:spPr>
        <p:txBody>
          <a:bodyPr wrap="none" rtlCol="0">
            <a:spAutoFit/>
          </a:bodyPr>
          <a:lstStyle/>
          <a:p>
            <a:r>
              <a:rPr lang="en-GB" b="1" dirty="0" smtClean="0">
                <a:solidFill>
                  <a:schemeClr val="bg1"/>
                </a:solidFill>
                <a:latin typeface="Times New Roman" pitchFamily="18" charset="0"/>
                <a:cs typeface="Times New Roman" pitchFamily="18" charset="0"/>
              </a:rPr>
              <a:t>PHOTENTIO</a:t>
            </a:r>
          </a:p>
          <a:p>
            <a:r>
              <a:rPr lang="en-GB" b="1" dirty="0" smtClean="0">
                <a:solidFill>
                  <a:schemeClr val="bg1"/>
                </a:solidFill>
                <a:latin typeface="Times New Roman" pitchFamily="18" charset="0"/>
                <a:cs typeface="Times New Roman" pitchFamily="18" charset="0"/>
              </a:rPr>
              <a:t>    METER</a:t>
            </a:r>
            <a:endParaRPr lang="en-IN" sz="1400" b="1" dirty="0">
              <a:solidFill>
                <a:schemeClr val="bg1"/>
              </a:solidFill>
              <a:latin typeface="Times New Roman" pitchFamily="18" charset="0"/>
              <a:cs typeface="Times New Roman" pitchFamily="18" charset="0"/>
            </a:endParaRPr>
          </a:p>
        </p:txBody>
      </p:sp>
      <p:sp>
        <p:nvSpPr>
          <p:cNvPr id="20" name="Right Arrow 19"/>
          <p:cNvSpPr/>
          <p:nvPr/>
        </p:nvSpPr>
        <p:spPr>
          <a:xfrm rot="10800000">
            <a:off x="1666193" y="2753339"/>
            <a:ext cx="1897695" cy="45720"/>
          </a:xfrm>
          <a:prstGeom prst="rightArrow">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ight Arrow 20"/>
          <p:cNvSpPr/>
          <p:nvPr/>
        </p:nvSpPr>
        <p:spPr>
          <a:xfrm rot="10800000" flipV="1">
            <a:off x="1612244" y="3360420"/>
            <a:ext cx="2743732" cy="45719"/>
          </a:xfrm>
          <a:prstGeom prst="rightArrow">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ight Arrow 21"/>
          <p:cNvSpPr/>
          <p:nvPr/>
        </p:nvSpPr>
        <p:spPr>
          <a:xfrm rot="5400000">
            <a:off x="4121091" y="3124443"/>
            <a:ext cx="469770" cy="45719"/>
          </a:xfrm>
          <a:prstGeom prst="rightArrow">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p:cNvSpPr txBox="1"/>
          <p:nvPr/>
        </p:nvSpPr>
        <p:spPr>
          <a:xfrm>
            <a:off x="948408" y="2591533"/>
            <a:ext cx="663836" cy="369332"/>
          </a:xfrm>
          <a:prstGeom prst="rect">
            <a:avLst/>
          </a:prstGeom>
          <a:noFill/>
        </p:spPr>
        <p:txBody>
          <a:bodyPr wrap="none" rtlCol="0">
            <a:spAutoFit/>
          </a:bodyPr>
          <a:lstStyle/>
          <a:p>
            <a:r>
              <a:rPr lang="en-GB" b="1" dirty="0" smtClean="0">
                <a:solidFill>
                  <a:schemeClr val="bg1"/>
                </a:solidFill>
                <a:latin typeface="Times New Roman" pitchFamily="18" charset="0"/>
                <a:cs typeface="Times New Roman" pitchFamily="18" charset="0"/>
              </a:rPr>
              <a:t>RTC</a:t>
            </a:r>
          </a:p>
        </p:txBody>
      </p:sp>
      <p:sp>
        <p:nvSpPr>
          <p:cNvPr id="26" name="TextBox 25"/>
          <p:cNvSpPr txBox="1"/>
          <p:nvPr/>
        </p:nvSpPr>
        <p:spPr>
          <a:xfrm>
            <a:off x="384816" y="3221474"/>
            <a:ext cx="1197764" cy="369332"/>
          </a:xfrm>
          <a:prstGeom prst="rect">
            <a:avLst/>
          </a:prstGeom>
          <a:noFill/>
        </p:spPr>
        <p:txBody>
          <a:bodyPr wrap="none" rtlCol="0">
            <a:spAutoFit/>
          </a:bodyPr>
          <a:lstStyle/>
          <a:p>
            <a:r>
              <a:rPr lang="en-GB" b="1" dirty="0" smtClean="0">
                <a:solidFill>
                  <a:schemeClr val="bg1"/>
                </a:solidFill>
                <a:latin typeface="Times New Roman" pitchFamily="18" charset="0"/>
                <a:cs typeface="Times New Roman" pitchFamily="18" charset="0"/>
              </a:rPr>
              <a:t>EEPROM</a:t>
            </a:r>
          </a:p>
        </p:txBody>
      </p:sp>
      <p:sp>
        <p:nvSpPr>
          <p:cNvPr id="27" name="Right Arrow 26"/>
          <p:cNvSpPr/>
          <p:nvPr/>
        </p:nvSpPr>
        <p:spPr>
          <a:xfrm>
            <a:off x="6084167" y="3590806"/>
            <a:ext cx="1080120" cy="45719"/>
          </a:xfrm>
          <a:prstGeom prst="rightArrow">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ight Arrow 27"/>
          <p:cNvSpPr/>
          <p:nvPr/>
        </p:nvSpPr>
        <p:spPr>
          <a:xfrm rot="5400000">
            <a:off x="5872142" y="3369637"/>
            <a:ext cx="469770" cy="45719"/>
          </a:xfrm>
          <a:prstGeom prst="rightArrow">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p:cNvSpPr txBox="1"/>
          <p:nvPr/>
        </p:nvSpPr>
        <p:spPr>
          <a:xfrm>
            <a:off x="7260855" y="3451859"/>
            <a:ext cx="684803" cy="369332"/>
          </a:xfrm>
          <a:prstGeom prst="rect">
            <a:avLst/>
          </a:prstGeom>
          <a:noFill/>
        </p:spPr>
        <p:txBody>
          <a:bodyPr wrap="none" rtlCol="0">
            <a:spAutoFit/>
          </a:bodyPr>
          <a:lstStyle/>
          <a:p>
            <a:r>
              <a:rPr lang="en-GB" b="1" dirty="0" smtClean="0">
                <a:solidFill>
                  <a:schemeClr val="bg1"/>
                </a:solidFill>
                <a:latin typeface="Times New Roman" pitchFamily="18" charset="0"/>
                <a:cs typeface="Times New Roman" pitchFamily="18" charset="0"/>
              </a:rPr>
              <a:t>ADC</a:t>
            </a:r>
            <a:endParaRPr lang="en-IN" b="1" dirty="0">
              <a:solidFill>
                <a:schemeClr val="bg1"/>
              </a:solidFill>
              <a:latin typeface="Times New Roman" pitchFamily="18" charset="0"/>
              <a:cs typeface="Times New Roman" pitchFamily="18" charset="0"/>
            </a:endParaRPr>
          </a:p>
        </p:txBody>
      </p:sp>
      <p:sp>
        <p:nvSpPr>
          <p:cNvPr id="31" name="Right Arrow 30"/>
          <p:cNvSpPr/>
          <p:nvPr/>
        </p:nvSpPr>
        <p:spPr>
          <a:xfrm rot="10800000" flipV="1">
            <a:off x="1835695" y="1633867"/>
            <a:ext cx="1010405" cy="45719"/>
          </a:xfrm>
          <a:prstGeom prst="rightArrow">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p:cNvSpPr txBox="1"/>
          <p:nvPr/>
        </p:nvSpPr>
        <p:spPr>
          <a:xfrm>
            <a:off x="747709" y="1335023"/>
            <a:ext cx="1056700" cy="646331"/>
          </a:xfrm>
          <a:prstGeom prst="rect">
            <a:avLst/>
          </a:prstGeom>
          <a:noFill/>
        </p:spPr>
        <p:txBody>
          <a:bodyPr wrap="none" rtlCol="0">
            <a:spAutoFit/>
          </a:bodyPr>
          <a:lstStyle/>
          <a:p>
            <a:r>
              <a:rPr lang="en-GB" b="1" dirty="0" smtClean="0">
                <a:solidFill>
                  <a:schemeClr val="bg1"/>
                </a:solidFill>
                <a:latin typeface="Times New Roman" pitchFamily="18" charset="0"/>
                <a:cs typeface="Times New Roman" pitchFamily="18" charset="0"/>
              </a:rPr>
              <a:t>POWER</a:t>
            </a:r>
          </a:p>
          <a:p>
            <a:r>
              <a:rPr lang="en-GB" b="1" dirty="0" smtClean="0">
                <a:solidFill>
                  <a:schemeClr val="bg1"/>
                </a:solidFill>
                <a:latin typeface="Times New Roman" pitchFamily="18" charset="0"/>
                <a:cs typeface="Times New Roman" pitchFamily="18" charset="0"/>
              </a:rPr>
              <a:t>SUPPLY</a:t>
            </a:r>
          </a:p>
        </p:txBody>
      </p:sp>
    </p:spTree>
    <p:extLst>
      <p:ext uri="{BB962C8B-B14F-4D97-AF65-F5344CB8AC3E}">
        <p14:creationId xmlns:p14="http://schemas.microsoft.com/office/powerpoint/2010/main" val="67933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50"/>
                                        <p:tgtEl>
                                          <p:spTgt spid="3"/>
                                        </p:tgtEl>
                                      </p:cBhvr>
                                    </p:animEffect>
                                  </p:childTnLst>
                                </p:cTn>
                              </p:par>
                              <p:par>
                                <p:cTn id="8" presetID="6" presetClass="entr" presetSubtype="16" fill="hold" grpId="0" nodeType="withEffect" nodePh="1">
                                  <p:stCondLst>
                                    <p:cond delay="0"/>
                                  </p:stCondLst>
                                  <p:endCondLst>
                                    <p:cond evt="begin" delay="0">
                                      <p:tn val="8"/>
                                    </p:cond>
                                  </p:endCondLst>
                                  <p:childTnLst>
                                    <p:set>
                                      <p:cBhvr>
                                        <p:cTn id="9" dur="1" fill="hold">
                                          <p:stCondLst>
                                            <p:cond delay="0"/>
                                          </p:stCondLst>
                                        </p:cTn>
                                        <p:tgtEl>
                                          <p:spTgt spid="4"/>
                                        </p:tgtEl>
                                        <p:attrNameLst>
                                          <p:attrName>style.visibility</p:attrName>
                                        </p:attrNameLst>
                                      </p:cBhvr>
                                      <p:to>
                                        <p:strVal val="visible"/>
                                      </p:to>
                                    </p:set>
                                    <p:animEffect transition="in" filter="circle(in)">
                                      <p:cBhvr>
                                        <p:cTn id="10" dur="250"/>
                                        <p:tgtEl>
                                          <p:spTgt spid="4"/>
                                        </p:tgtEl>
                                      </p:cBhvr>
                                    </p:animEffect>
                                  </p:childTnLst>
                                </p:cTn>
                              </p:par>
                              <p:par>
                                <p:cTn id="11" presetID="6" presetClass="entr" presetSubtype="16" fill="hold" grpId="0" nodeType="withEffect" nodePh="1">
                                  <p:stCondLst>
                                    <p:cond delay="0"/>
                                  </p:stCondLst>
                                  <p:endCondLst>
                                    <p:cond evt="begin" delay="0">
                                      <p:tn val="11"/>
                                    </p:cond>
                                  </p:endCondLst>
                                  <p:childTnLst>
                                    <p:set>
                                      <p:cBhvr>
                                        <p:cTn id="12" dur="1" fill="hold">
                                          <p:stCondLst>
                                            <p:cond delay="0"/>
                                          </p:stCondLst>
                                        </p:cTn>
                                        <p:tgtEl>
                                          <p:spTgt spid="5"/>
                                        </p:tgtEl>
                                        <p:attrNameLst>
                                          <p:attrName>style.visibility</p:attrName>
                                        </p:attrNameLst>
                                      </p:cBhvr>
                                      <p:to>
                                        <p:strVal val="visible"/>
                                      </p:to>
                                    </p:set>
                                    <p:animEffect transition="in" filter="circle(in)">
                                      <p:cBhvr>
                                        <p:cTn id="13" dur="250"/>
                                        <p:tgtEl>
                                          <p:spTgt spid="5"/>
                                        </p:tgtEl>
                                      </p:cBhvr>
                                    </p:animEffect>
                                  </p:childTnLst>
                                </p:cTn>
                              </p:par>
                              <p:par>
                                <p:cTn id="14" presetID="6" presetClass="entr" presetSubtype="16"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circle(in)">
                                      <p:cBhvr>
                                        <p:cTn id="16" dur="250"/>
                                        <p:tgtEl>
                                          <p:spTgt spid="11"/>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circle(in)">
                                      <p:cBhvr>
                                        <p:cTn id="19" dur="250"/>
                                        <p:tgtEl>
                                          <p:spTgt spid="9"/>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circle(in)">
                                      <p:cBhvr>
                                        <p:cTn id="22" dur="250"/>
                                        <p:tgtEl>
                                          <p:spTgt spid="15"/>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circle(in)">
                                      <p:cBhvr>
                                        <p:cTn id="25" dur="250"/>
                                        <p:tgtEl>
                                          <p:spTgt spid="16"/>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circle(in)">
                                      <p:cBhvr>
                                        <p:cTn id="28" dur="250"/>
                                        <p:tgtEl>
                                          <p:spTgt spid="10"/>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circle(in)">
                                      <p:cBhvr>
                                        <p:cTn id="31" dur="250"/>
                                        <p:tgtEl>
                                          <p:spTgt spid="18"/>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circle(in)">
                                      <p:cBhvr>
                                        <p:cTn id="34" dur="250"/>
                                        <p:tgtEl>
                                          <p:spTgt spid="19"/>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circle(in)">
                                      <p:cBhvr>
                                        <p:cTn id="37" dur="250"/>
                                        <p:tgtEl>
                                          <p:spTgt spid="20"/>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circle(in)">
                                      <p:cBhvr>
                                        <p:cTn id="40" dur="250"/>
                                        <p:tgtEl>
                                          <p:spTgt spid="21"/>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circle(in)">
                                      <p:cBhvr>
                                        <p:cTn id="43" dur="250"/>
                                        <p:tgtEl>
                                          <p:spTgt spid="22"/>
                                        </p:tgtEl>
                                      </p:cBhvr>
                                    </p:animEffect>
                                  </p:childTnLst>
                                </p:cTn>
                              </p:par>
                              <p:par>
                                <p:cTn id="44" presetID="6" presetClass="entr" presetSubtype="16"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circle(in)">
                                      <p:cBhvr>
                                        <p:cTn id="46" dur="250"/>
                                        <p:tgtEl>
                                          <p:spTgt spid="25"/>
                                        </p:tgtEl>
                                      </p:cBhvr>
                                    </p:animEffect>
                                  </p:childTnLst>
                                </p:cTn>
                              </p:par>
                              <p:par>
                                <p:cTn id="47" presetID="6" presetClass="entr" presetSubtype="16"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circle(in)">
                                      <p:cBhvr>
                                        <p:cTn id="49" dur="250"/>
                                        <p:tgtEl>
                                          <p:spTgt spid="26"/>
                                        </p:tgtEl>
                                      </p:cBhvr>
                                    </p:animEffect>
                                  </p:childTnLst>
                                </p:cTn>
                              </p:par>
                              <p:par>
                                <p:cTn id="50" presetID="6" presetClass="entr" presetSubtype="16"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circle(in)">
                                      <p:cBhvr>
                                        <p:cTn id="52" dur="250"/>
                                        <p:tgtEl>
                                          <p:spTgt spid="27"/>
                                        </p:tgtEl>
                                      </p:cBhvr>
                                    </p:animEffect>
                                  </p:childTnLst>
                                </p:cTn>
                              </p:par>
                              <p:par>
                                <p:cTn id="53" presetID="6" presetClass="entr" presetSubtype="16"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circle(in)">
                                      <p:cBhvr>
                                        <p:cTn id="55" dur="250"/>
                                        <p:tgtEl>
                                          <p:spTgt spid="28"/>
                                        </p:tgtEl>
                                      </p:cBhvr>
                                    </p:animEffect>
                                  </p:childTnLst>
                                </p:cTn>
                              </p:par>
                              <p:par>
                                <p:cTn id="56" presetID="6" presetClass="entr" presetSubtype="16"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circle(in)">
                                      <p:cBhvr>
                                        <p:cTn id="58" dur="250"/>
                                        <p:tgtEl>
                                          <p:spTgt spid="30"/>
                                        </p:tgtEl>
                                      </p:cBhvr>
                                    </p:animEffect>
                                  </p:childTnLst>
                                </p:cTn>
                              </p:par>
                              <p:par>
                                <p:cTn id="59" presetID="6" presetClass="entr" presetSubtype="16"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circle(in)">
                                      <p:cBhvr>
                                        <p:cTn id="61" dur="250"/>
                                        <p:tgtEl>
                                          <p:spTgt spid="31"/>
                                        </p:tgtEl>
                                      </p:cBhvr>
                                    </p:animEffect>
                                  </p:childTnLst>
                                </p:cTn>
                              </p:par>
                              <p:par>
                                <p:cTn id="62" presetID="6" presetClass="entr" presetSubtype="16"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circle(in)">
                                      <p:cBhvr>
                                        <p:cTn id="64" dur="2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9" grpId="0" animBg="1"/>
      <p:bldP spid="15" grpId="0" animBg="1"/>
      <p:bldP spid="16" grpId="0" animBg="1"/>
      <p:bldP spid="10" grpId="0"/>
      <p:bldP spid="18" grpId="0"/>
      <p:bldP spid="19" grpId="0"/>
      <p:bldP spid="20" grpId="0" animBg="1"/>
      <p:bldP spid="21" grpId="0" animBg="1"/>
      <p:bldP spid="22" grpId="0" animBg="1"/>
      <p:bldP spid="25" grpId="0"/>
      <p:bldP spid="26" grpId="0"/>
      <p:bldP spid="27" grpId="0" animBg="1"/>
      <p:bldP spid="28" grpId="0" animBg="1"/>
      <p:bldP spid="30" grpId="0"/>
      <p:bldP spid="31" grpId="0" animBg="1"/>
      <p:bldP spid="3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DELL\AppData\Local\Temp\{06CB4A1E-17CB-47B0-AFA8-A7D7AFACA8EF}.t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854189" y="548680"/>
            <a:ext cx="3803092" cy="400110"/>
          </a:xfrm>
          <a:prstGeom prst="rect">
            <a:avLst/>
          </a:prstGeom>
        </p:spPr>
        <p:txBody>
          <a:bodyPr wrap="none">
            <a:spAutoFit/>
          </a:bodyPr>
          <a:lstStyle/>
          <a:p>
            <a:r>
              <a:rPr lang="en-IN" sz="2000" b="1" u="sng"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SOFTWARE REQUIREMENTS</a:t>
            </a:r>
            <a:endParaRPr lang="en-IN" sz="2000" b="1" u="sng"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Rectangle 4"/>
          <p:cNvSpPr/>
          <p:nvPr/>
        </p:nvSpPr>
        <p:spPr>
          <a:xfrm>
            <a:off x="2743113" y="1951672"/>
            <a:ext cx="3485826" cy="1938992"/>
          </a:xfrm>
          <a:prstGeom prst="rect">
            <a:avLst/>
          </a:prstGeom>
        </p:spPr>
        <p:txBody>
          <a:bodyPr wrap="none">
            <a:spAutoFit/>
          </a:bodyPr>
          <a:lstStyle/>
          <a:p>
            <a:pPr marL="285750" indent="-285750">
              <a:buFont typeface="Wingdings" pitchFamily="2" charset="2"/>
              <a:buChar char="ü"/>
            </a:pPr>
            <a:r>
              <a:rPr lang="en-GB" sz="24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 programming</a:t>
            </a:r>
          </a:p>
          <a:p>
            <a:pPr marL="285750" indent="-285750">
              <a:buFont typeface="Wingdings" pitchFamily="2" charset="2"/>
              <a:buChar char="ü"/>
            </a:pPr>
            <a:r>
              <a:rPr lang="en-GB" sz="2400" b="1" dirty="0" err="1"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Teraterm</a:t>
            </a:r>
            <a:r>
              <a:rPr lang="en-GB" sz="24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5 application</a:t>
            </a:r>
          </a:p>
          <a:p>
            <a:pPr marL="285750" indent="-285750">
              <a:buFont typeface="Wingdings" pitchFamily="2" charset="2"/>
              <a:buChar char="ü"/>
            </a:pPr>
            <a:r>
              <a:rPr lang="en-GB" sz="24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MPLAB X IDE v5.35</a:t>
            </a:r>
          </a:p>
          <a:p>
            <a:pPr marL="285750" indent="-285750">
              <a:buFont typeface="Wingdings" pitchFamily="2" charset="2"/>
              <a:buChar char="ü"/>
            </a:pPr>
            <a:r>
              <a:rPr lang="en-GB" sz="2400" b="1" dirty="0" err="1"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Tinybldwin</a:t>
            </a:r>
            <a:endParaRPr lang="en-IN" sz="24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285750" indent="-285750">
              <a:buFont typeface="Wingdings" pitchFamily="2" charset="2"/>
              <a:buChar char="ü"/>
            </a:pPr>
            <a:r>
              <a:rPr lang="en-GB" sz="24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CH3x_installation</a:t>
            </a:r>
          </a:p>
        </p:txBody>
      </p:sp>
    </p:spTree>
    <p:extLst>
      <p:ext uri="{BB962C8B-B14F-4D97-AF65-F5344CB8AC3E}">
        <p14:creationId xmlns:p14="http://schemas.microsoft.com/office/powerpoint/2010/main" val="3055736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DELL\AppData\Local\Temp\{06CB4A1E-17CB-47B0-AFA8-A7D7AFACA8EF}.t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195736" y="404663"/>
            <a:ext cx="3159839" cy="461665"/>
          </a:xfrm>
          <a:prstGeom prst="rect">
            <a:avLst/>
          </a:prstGeom>
        </p:spPr>
        <p:txBody>
          <a:bodyPr wrap="none">
            <a:spAutoFit/>
          </a:bodyPr>
          <a:lstStyle/>
          <a:p>
            <a:pPr lvl="3" algn="ctr"/>
            <a:r>
              <a:rPr lang="en-GB" sz="2400" b="1" u="sng" dirty="0" smtClean="0">
                <a:solidFill>
                  <a:schemeClr val="bg1"/>
                </a:solidFill>
                <a:latin typeface="Times New Roman" panose="02020603050405020304" pitchFamily="18" charset="0"/>
                <a:cs typeface="Times New Roman" panose="02020603050405020304" pitchFamily="18" charset="0"/>
              </a:rPr>
              <a:t>WORKING</a:t>
            </a:r>
            <a:endParaRPr lang="en-IN" sz="2400" b="1" u="sng" dirty="0" smtClean="0">
              <a:solidFill>
                <a:schemeClr val="bg1"/>
              </a:solidFill>
              <a:latin typeface="Times New Roman" panose="02020603050405020304" pitchFamily="18" charset="0"/>
              <a:cs typeface="Times New Roman" panose="02020603050405020304" pitchFamily="18" charset="0"/>
            </a:endParaRPr>
          </a:p>
        </p:txBody>
      </p:sp>
      <p:sp>
        <p:nvSpPr>
          <p:cNvPr id="6" name="Rectangle 5"/>
          <p:cNvSpPr/>
          <p:nvPr/>
        </p:nvSpPr>
        <p:spPr>
          <a:xfrm>
            <a:off x="359531" y="1484784"/>
            <a:ext cx="8424936" cy="4708981"/>
          </a:xfrm>
          <a:prstGeom prst="rect">
            <a:avLst/>
          </a:prstGeom>
        </p:spPr>
        <p:txBody>
          <a:bodyPr wrap="square">
            <a:spAutoFit/>
          </a:bodyPr>
          <a:lstStyle/>
          <a:p>
            <a:pPr marL="342900" indent="-342900">
              <a:buAutoNum type="arabicPeriod"/>
            </a:pPr>
            <a:r>
              <a:rPr lang="en-GB" sz="2000" dirty="0" smtClean="0">
                <a:solidFill>
                  <a:schemeClr val="bg1"/>
                </a:solidFill>
                <a:latin typeface="Times New Roman" pitchFamily="18" charset="0"/>
                <a:cs typeface="Times New Roman" pitchFamily="18" charset="0"/>
              </a:rPr>
              <a:t>PIC18F4580 Microcontroller:</a:t>
            </a:r>
          </a:p>
          <a:p>
            <a:pPr lvl="1"/>
            <a:r>
              <a:rPr lang="en-GB" sz="2000" dirty="0" smtClean="0">
                <a:solidFill>
                  <a:schemeClr val="bg1"/>
                </a:solidFill>
                <a:latin typeface="Times New Roman" pitchFamily="18" charset="0"/>
                <a:cs typeface="Times New Roman" pitchFamily="18" charset="0"/>
              </a:rPr>
              <a:t>This is the central processing unit of the system. It controls and processes data from connected peripherals and executes programmed instructions.</a:t>
            </a:r>
          </a:p>
          <a:p>
            <a:pPr lvl="1"/>
            <a:endParaRPr lang="en-GB" sz="2000" dirty="0" smtClean="0">
              <a:solidFill>
                <a:schemeClr val="bg1"/>
              </a:solidFill>
              <a:latin typeface="Times New Roman" pitchFamily="18" charset="0"/>
              <a:cs typeface="Times New Roman" pitchFamily="18" charset="0"/>
            </a:endParaRPr>
          </a:p>
          <a:p>
            <a:pPr marL="342900" indent="-342900">
              <a:buAutoNum type="arabicPeriod"/>
            </a:pPr>
            <a:r>
              <a:rPr lang="en-GB" sz="2000" dirty="0" smtClean="0">
                <a:solidFill>
                  <a:schemeClr val="bg1"/>
                </a:solidFill>
                <a:latin typeface="Times New Roman" pitchFamily="18" charset="0"/>
                <a:cs typeface="Times New Roman" pitchFamily="18" charset="0"/>
              </a:rPr>
              <a:t>CLCD :</a:t>
            </a:r>
          </a:p>
          <a:p>
            <a:pPr lvl="1"/>
            <a:r>
              <a:rPr lang="en-GB" sz="2000" dirty="0" smtClean="0">
                <a:solidFill>
                  <a:schemeClr val="bg1"/>
                </a:solidFill>
                <a:latin typeface="Times New Roman" pitchFamily="18" charset="0"/>
                <a:cs typeface="Times New Roman" pitchFamily="18" charset="0"/>
              </a:rPr>
              <a:t>A Character Liquid Crystal Display (CLCD) is a display module commonly used to show alphanumeric characters. </a:t>
            </a:r>
          </a:p>
          <a:p>
            <a:pPr lvl="1"/>
            <a:endParaRPr lang="en-GB" sz="2000" dirty="0" smtClean="0">
              <a:solidFill>
                <a:schemeClr val="bg1"/>
              </a:solidFill>
              <a:latin typeface="Times New Roman" pitchFamily="18" charset="0"/>
              <a:cs typeface="Times New Roman" pitchFamily="18" charset="0"/>
            </a:endParaRPr>
          </a:p>
          <a:p>
            <a:pPr marL="342900" indent="-342900">
              <a:buAutoNum type="arabicPeriod"/>
            </a:pPr>
            <a:r>
              <a:rPr lang="en-GB" sz="2000" dirty="0" smtClean="0">
                <a:solidFill>
                  <a:schemeClr val="bg1"/>
                </a:solidFill>
                <a:latin typeface="Times New Roman" pitchFamily="18" charset="0"/>
                <a:cs typeface="Times New Roman" pitchFamily="18" charset="0"/>
              </a:rPr>
              <a:t>RTC (Real-Time Clock):</a:t>
            </a:r>
          </a:p>
          <a:p>
            <a:pPr lvl="1"/>
            <a:r>
              <a:rPr lang="en-GB" sz="2000" dirty="0" smtClean="0">
                <a:solidFill>
                  <a:schemeClr val="bg1"/>
                </a:solidFill>
                <a:latin typeface="Times New Roman" pitchFamily="18" charset="0"/>
                <a:cs typeface="Times New Roman" pitchFamily="18" charset="0"/>
              </a:rPr>
              <a:t>Provides accurate time and date to the system. The microcontroller uses this information for time-stamping events or operations.</a:t>
            </a:r>
          </a:p>
          <a:p>
            <a:pPr lvl="1"/>
            <a:endParaRPr lang="en-GB" sz="2000" dirty="0" smtClean="0">
              <a:solidFill>
                <a:schemeClr val="bg1"/>
              </a:solidFill>
              <a:latin typeface="Times New Roman" pitchFamily="18" charset="0"/>
              <a:cs typeface="Times New Roman" pitchFamily="18" charset="0"/>
            </a:endParaRPr>
          </a:p>
          <a:p>
            <a:pPr marL="342900" indent="-342900">
              <a:buAutoNum type="arabicPeriod"/>
            </a:pPr>
            <a:r>
              <a:rPr lang="en-GB" sz="2000" dirty="0" smtClean="0">
                <a:solidFill>
                  <a:schemeClr val="bg1"/>
                </a:solidFill>
                <a:latin typeface="Times New Roman" pitchFamily="18" charset="0"/>
                <a:cs typeface="Times New Roman" pitchFamily="18" charset="0"/>
              </a:rPr>
              <a:t>Matrix Keypad:</a:t>
            </a:r>
          </a:p>
          <a:p>
            <a:pPr lvl="1"/>
            <a:r>
              <a:rPr lang="en-GB" sz="2000" dirty="0" smtClean="0">
                <a:solidFill>
                  <a:schemeClr val="bg1"/>
                </a:solidFill>
                <a:latin typeface="Times New Roman" pitchFamily="18" charset="0"/>
                <a:cs typeface="Times New Roman" pitchFamily="18" charset="0"/>
              </a:rPr>
              <a:t>Used for user input. When a button is pressed, the keypad sends a signal to the microcontroller, which interprets the input.</a:t>
            </a:r>
          </a:p>
        </p:txBody>
      </p:sp>
    </p:spTree>
    <p:extLst>
      <p:ext uri="{BB962C8B-B14F-4D97-AF65-F5344CB8AC3E}">
        <p14:creationId xmlns:p14="http://schemas.microsoft.com/office/powerpoint/2010/main" val="4222005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arn(inVertical)">
                                      <p:cBhvr>
                                        <p:cTn id="10" dur="500"/>
                                        <p:tgtEl>
                                          <p:spTgt spid="6">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barn(inVertical)">
                                      <p:cBhvr>
                                        <p:cTn id="13" dur="500"/>
                                        <p:tgtEl>
                                          <p:spTgt spid="6">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6">
                                            <p:txEl>
                                              <p:pRg st="4" end="4"/>
                                            </p:txEl>
                                          </p:spTgt>
                                        </p:tgtEl>
                                        <p:attrNameLst>
                                          <p:attrName>style.visibility</p:attrName>
                                        </p:attrNameLst>
                                      </p:cBhvr>
                                      <p:to>
                                        <p:strVal val="visible"/>
                                      </p:to>
                                    </p:set>
                                    <p:animEffect transition="in" filter="barn(inVertical)">
                                      <p:cBhvr>
                                        <p:cTn id="16" dur="500"/>
                                        <p:tgtEl>
                                          <p:spTgt spid="6">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animEffect transition="in" filter="barn(inVertical)">
                                      <p:cBhvr>
                                        <p:cTn id="19" dur="500"/>
                                        <p:tgtEl>
                                          <p:spTgt spid="6">
                                            <p:txEl>
                                              <p:pRg st="6" end="6"/>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6">
                                            <p:txEl>
                                              <p:pRg st="7" end="7"/>
                                            </p:txEl>
                                          </p:spTgt>
                                        </p:tgtEl>
                                        <p:attrNameLst>
                                          <p:attrName>style.visibility</p:attrName>
                                        </p:attrNameLst>
                                      </p:cBhvr>
                                      <p:to>
                                        <p:strVal val="visible"/>
                                      </p:to>
                                    </p:set>
                                    <p:animEffect transition="in" filter="barn(inVertical)">
                                      <p:cBhvr>
                                        <p:cTn id="22" dur="500"/>
                                        <p:tgtEl>
                                          <p:spTgt spid="6">
                                            <p:txEl>
                                              <p:pRg st="7" end="7"/>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6">
                                            <p:txEl>
                                              <p:pRg st="9" end="9"/>
                                            </p:txEl>
                                          </p:spTgt>
                                        </p:tgtEl>
                                        <p:attrNameLst>
                                          <p:attrName>style.visibility</p:attrName>
                                        </p:attrNameLst>
                                      </p:cBhvr>
                                      <p:to>
                                        <p:strVal val="visible"/>
                                      </p:to>
                                    </p:set>
                                    <p:animEffect transition="in" filter="barn(inVertical)">
                                      <p:cBhvr>
                                        <p:cTn id="25" dur="500"/>
                                        <p:tgtEl>
                                          <p:spTgt spid="6">
                                            <p:txEl>
                                              <p:pRg st="9" end="9"/>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6">
                                            <p:txEl>
                                              <p:pRg st="10" end="10"/>
                                            </p:txEl>
                                          </p:spTgt>
                                        </p:tgtEl>
                                        <p:attrNameLst>
                                          <p:attrName>style.visibility</p:attrName>
                                        </p:attrNameLst>
                                      </p:cBhvr>
                                      <p:to>
                                        <p:strVal val="visible"/>
                                      </p:to>
                                    </p:set>
                                    <p:animEffect transition="in" filter="barn(inVertical)">
                                      <p:cBhvr>
                                        <p:cTn id="28"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DELL\AppData\Local\Temp\{06CB4A1E-17CB-47B0-AFA8-A7D7AFACA8EF}.t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95536" y="1166843"/>
            <a:ext cx="8280920" cy="4401205"/>
          </a:xfrm>
          <a:prstGeom prst="rect">
            <a:avLst/>
          </a:prstGeom>
        </p:spPr>
        <p:txBody>
          <a:bodyPr wrap="square">
            <a:spAutoFit/>
          </a:bodyPr>
          <a:lstStyle/>
          <a:p>
            <a:r>
              <a:rPr lang="en-GB" sz="2000" dirty="0" smtClean="0">
                <a:solidFill>
                  <a:schemeClr val="bg1"/>
                </a:solidFill>
                <a:latin typeface="Times New Roman" pitchFamily="18" charset="0"/>
                <a:cs typeface="Times New Roman" pitchFamily="18" charset="0"/>
              </a:rPr>
              <a:t>5.   Potentiometer:</a:t>
            </a:r>
          </a:p>
          <a:p>
            <a:pPr lvl="1"/>
            <a:r>
              <a:rPr lang="en-GB" sz="2000" dirty="0" smtClean="0">
                <a:solidFill>
                  <a:schemeClr val="bg1"/>
                </a:solidFill>
                <a:latin typeface="Times New Roman" pitchFamily="18" charset="0"/>
                <a:cs typeface="Times New Roman" pitchFamily="18" charset="0"/>
              </a:rPr>
              <a:t>Acts as an </a:t>
            </a:r>
            <a:r>
              <a:rPr lang="en-GB" sz="2000" dirty="0" err="1" smtClean="0">
                <a:solidFill>
                  <a:schemeClr val="bg1"/>
                </a:solidFill>
                <a:latin typeface="Times New Roman" pitchFamily="18" charset="0"/>
                <a:cs typeface="Times New Roman" pitchFamily="18" charset="0"/>
              </a:rPr>
              <a:t>analog</a:t>
            </a:r>
            <a:r>
              <a:rPr lang="en-GB" sz="2000" dirty="0" smtClean="0">
                <a:solidFill>
                  <a:schemeClr val="bg1"/>
                </a:solidFill>
                <a:latin typeface="Times New Roman" pitchFamily="18" charset="0"/>
                <a:cs typeface="Times New Roman" pitchFamily="18" charset="0"/>
              </a:rPr>
              <a:t> input to the microcontroller, typically used to adjust parameters like voltage or resistance.</a:t>
            </a:r>
          </a:p>
          <a:p>
            <a:pPr lvl="1"/>
            <a:endParaRPr lang="en-GB" sz="2000" dirty="0" smtClean="0">
              <a:solidFill>
                <a:schemeClr val="bg1"/>
              </a:solidFill>
              <a:latin typeface="Times New Roman" pitchFamily="18" charset="0"/>
              <a:cs typeface="Times New Roman" pitchFamily="18" charset="0"/>
            </a:endParaRPr>
          </a:p>
          <a:p>
            <a:r>
              <a:rPr lang="en-GB" sz="2000" dirty="0" smtClean="0">
                <a:solidFill>
                  <a:schemeClr val="bg1"/>
                </a:solidFill>
                <a:latin typeface="Times New Roman" pitchFamily="18" charset="0"/>
                <a:cs typeface="Times New Roman" pitchFamily="18" charset="0"/>
              </a:rPr>
              <a:t>6.   Power Supply:</a:t>
            </a:r>
          </a:p>
          <a:p>
            <a:pPr lvl="1"/>
            <a:r>
              <a:rPr lang="en-GB" sz="2000" dirty="0" smtClean="0">
                <a:solidFill>
                  <a:schemeClr val="bg1"/>
                </a:solidFill>
                <a:latin typeface="Times New Roman" pitchFamily="18" charset="0"/>
                <a:cs typeface="Times New Roman" pitchFamily="18" charset="0"/>
              </a:rPr>
              <a:t>Provides the necessary electrical power for all components in the system.</a:t>
            </a:r>
          </a:p>
          <a:p>
            <a:pPr lvl="1"/>
            <a:endParaRPr lang="en-GB" sz="2000" dirty="0" smtClean="0">
              <a:solidFill>
                <a:schemeClr val="bg1"/>
              </a:solidFill>
              <a:latin typeface="Times New Roman" pitchFamily="18" charset="0"/>
              <a:cs typeface="Times New Roman" pitchFamily="18" charset="0"/>
            </a:endParaRPr>
          </a:p>
          <a:p>
            <a:r>
              <a:rPr lang="en-GB" sz="2000" dirty="0" smtClean="0">
                <a:solidFill>
                  <a:schemeClr val="bg1"/>
                </a:solidFill>
                <a:latin typeface="Times New Roman" pitchFamily="18" charset="0"/>
                <a:cs typeface="Times New Roman" pitchFamily="18" charset="0"/>
              </a:rPr>
              <a:t>7.   EEPROM (Electrically Erasable Programmable Read-Only Memory):</a:t>
            </a:r>
          </a:p>
          <a:p>
            <a:pPr lvl="1"/>
            <a:r>
              <a:rPr lang="en-GB" sz="2000" dirty="0" smtClean="0">
                <a:solidFill>
                  <a:schemeClr val="bg1"/>
                </a:solidFill>
                <a:latin typeface="Times New Roman" pitchFamily="18" charset="0"/>
                <a:cs typeface="Times New Roman" pitchFamily="18" charset="0"/>
              </a:rPr>
              <a:t>Used for storing data that must be retained even after power is turned off, such as configuration settings.</a:t>
            </a:r>
          </a:p>
          <a:p>
            <a:endParaRPr lang="en-GB" sz="2000" dirty="0">
              <a:solidFill>
                <a:schemeClr val="bg1"/>
              </a:solidFill>
              <a:latin typeface="Times New Roman" pitchFamily="18" charset="0"/>
              <a:cs typeface="Times New Roman" pitchFamily="18" charset="0"/>
            </a:endParaRPr>
          </a:p>
          <a:p>
            <a:r>
              <a:rPr lang="en-GB" sz="2000" dirty="0" smtClean="0">
                <a:solidFill>
                  <a:schemeClr val="bg1"/>
                </a:solidFill>
                <a:latin typeface="Times New Roman" pitchFamily="18" charset="0"/>
                <a:cs typeface="Times New Roman" pitchFamily="18" charset="0"/>
              </a:rPr>
              <a:t>8.    ADC (</a:t>
            </a:r>
            <a:r>
              <a:rPr lang="en-GB" sz="2000" dirty="0" err="1" smtClean="0">
                <a:solidFill>
                  <a:schemeClr val="bg1"/>
                </a:solidFill>
                <a:latin typeface="Times New Roman" pitchFamily="18" charset="0"/>
                <a:cs typeface="Times New Roman" pitchFamily="18" charset="0"/>
              </a:rPr>
              <a:t>Analog</a:t>
            </a:r>
            <a:r>
              <a:rPr lang="en-GB" sz="2000" dirty="0" smtClean="0">
                <a:solidFill>
                  <a:schemeClr val="bg1"/>
                </a:solidFill>
                <a:latin typeface="Times New Roman" pitchFamily="18" charset="0"/>
                <a:cs typeface="Times New Roman" pitchFamily="18" charset="0"/>
              </a:rPr>
              <a:t>-to-Digital Converter):</a:t>
            </a:r>
          </a:p>
          <a:p>
            <a:pPr lvl="1"/>
            <a:r>
              <a:rPr lang="en-GB" sz="2000" dirty="0" smtClean="0">
                <a:solidFill>
                  <a:schemeClr val="bg1"/>
                </a:solidFill>
                <a:latin typeface="Times New Roman" pitchFamily="18" charset="0"/>
                <a:cs typeface="Times New Roman" pitchFamily="18" charset="0"/>
              </a:rPr>
              <a:t>Converts </a:t>
            </a:r>
            <a:r>
              <a:rPr lang="en-GB" sz="2000" dirty="0" err="1" smtClean="0">
                <a:solidFill>
                  <a:schemeClr val="bg1"/>
                </a:solidFill>
                <a:latin typeface="Times New Roman" pitchFamily="18" charset="0"/>
                <a:cs typeface="Times New Roman" pitchFamily="18" charset="0"/>
              </a:rPr>
              <a:t>analog</a:t>
            </a:r>
            <a:r>
              <a:rPr lang="en-GB" sz="2000" dirty="0" smtClean="0">
                <a:solidFill>
                  <a:schemeClr val="bg1"/>
                </a:solidFill>
                <a:latin typeface="Times New Roman" pitchFamily="18" charset="0"/>
                <a:cs typeface="Times New Roman" pitchFamily="18" charset="0"/>
              </a:rPr>
              <a:t> signals (like those from the potentiometer) into digital data that the microcontroller can process.</a:t>
            </a:r>
            <a:endParaRPr lang="en-IN" sz="2000"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73007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arn(inVertical)">
                                      <p:cBhvr>
                                        <p:cTn id="13" dur="500"/>
                                        <p:tgtEl>
                                          <p:spTgt spid="3">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arn(inVertical)">
                                      <p:cBhvr>
                                        <p:cTn id="16" dur="500"/>
                                        <p:tgtEl>
                                          <p:spTgt spid="3">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barn(inVertical)">
                                      <p:cBhvr>
                                        <p:cTn id="19" dur="500"/>
                                        <p:tgtEl>
                                          <p:spTgt spid="3">
                                            <p:txEl>
                                              <p:pRg st="6" end="6"/>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barn(inVertical)">
                                      <p:cBhvr>
                                        <p:cTn id="22" dur="500"/>
                                        <p:tgtEl>
                                          <p:spTgt spid="3">
                                            <p:txEl>
                                              <p:pRg st="7" end="7"/>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animEffect transition="in" filter="barn(inVertical)">
                                      <p:cBhvr>
                                        <p:cTn id="25" dur="500"/>
                                        <p:tgtEl>
                                          <p:spTgt spid="3">
                                            <p:txEl>
                                              <p:pRg st="9" end="9"/>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3">
                                            <p:txEl>
                                              <p:pRg st="10" end="10"/>
                                            </p:txEl>
                                          </p:spTgt>
                                        </p:tgtEl>
                                        <p:attrNameLst>
                                          <p:attrName>style.visibility</p:attrName>
                                        </p:attrNameLst>
                                      </p:cBhvr>
                                      <p:to>
                                        <p:strVal val="visible"/>
                                      </p:to>
                                    </p:set>
                                    <p:animEffect transition="in" filter="barn(inVertical)">
                                      <p:cBhvr>
                                        <p:cTn id="2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DELL\AppData\Local\Temp\{06CB4A1E-17CB-47B0-AFA8-A7D7AFACA8EF}.t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Users\DELL\AppData\Local\Temp\{06CB4A1E-17CB-47B0-AFA8-A7D7AFACA8EF}.t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123728" y="476672"/>
            <a:ext cx="4572000" cy="461665"/>
          </a:xfrm>
          <a:prstGeom prst="rect">
            <a:avLst/>
          </a:prstGeom>
        </p:spPr>
        <p:txBody>
          <a:bodyPr>
            <a:spAutoFit/>
          </a:bodyPr>
          <a:lstStyle/>
          <a:p>
            <a:pPr lvl="2"/>
            <a:r>
              <a:rPr lang="en-IN" sz="2400" b="1" u="sng" dirty="0" smtClean="0">
                <a:solidFill>
                  <a:schemeClr val="bg1"/>
                </a:solidFill>
                <a:latin typeface="Times New Roman" panose="02020603050405020304" pitchFamily="18" charset="0"/>
                <a:cs typeface="Times New Roman" panose="02020603050405020304" pitchFamily="18" charset="0"/>
              </a:rPr>
              <a:t>IMPLEMENTATION</a:t>
            </a:r>
          </a:p>
        </p:txBody>
      </p:sp>
      <p:sp>
        <p:nvSpPr>
          <p:cNvPr id="7" name="TextBox 6"/>
          <p:cNvSpPr txBox="1"/>
          <p:nvPr/>
        </p:nvSpPr>
        <p:spPr>
          <a:xfrm>
            <a:off x="1313636" y="1306504"/>
            <a:ext cx="6516725" cy="4801314"/>
          </a:xfrm>
          <a:prstGeom prst="rect">
            <a:avLst/>
          </a:prstGeom>
          <a:noFill/>
        </p:spPr>
        <p:txBody>
          <a:bodyPr wrap="square" rtlCol="0">
            <a:spAutoFit/>
          </a:bodyPr>
          <a:lstStyle/>
          <a:p>
            <a:endParaRPr lang="en-GB" dirty="0">
              <a:solidFill>
                <a:schemeClr val="bg1"/>
              </a:solidFill>
            </a:endParaRPr>
          </a:p>
          <a:p>
            <a:r>
              <a:rPr lang="en-GB" dirty="0" smtClean="0">
                <a:solidFill>
                  <a:schemeClr val="bg1"/>
                </a:solidFill>
              </a:rPr>
              <a:t>DASHBOARD</a:t>
            </a:r>
          </a:p>
          <a:p>
            <a:endParaRPr lang="en-GB" dirty="0">
              <a:solidFill>
                <a:schemeClr val="bg1"/>
              </a:solidFill>
            </a:endParaRPr>
          </a:p>
          <a:p>
            <a:pPr marL="285750" indent="-285750">
              <a:buFont typeface="Wingdings" pitchFamily="2" charset="2"/>
              <a:buChar char="§"/>
            </a:pPr>
            <a:r>
              <a:rPr lang="en-GB" dirty="0" smtClean="0">
                <a:solidFill>
                  <a:schemeClr val="bg1"/>
                </a:solidFill>
              </a:rPr>
              <a:t>We display the Time, Gear, Speed</a:t>
            </a:r>
          </a:p>
          <a:p>
            <a:pPr marL="285750" indent="-285750">
              <a:buFont typeface="Wingdings" pitchFamily="2" charset="2"/>
              <a:buChar char="§"/>
            </a:pPr>
            <a:endParaRPr lang="en-GB" dirty="0">
              <a:solidFill>
                <a:schemeClr val="bg1"/>
              </a:solidFill>
            </a:endParaRPr>
          </a:p>
          <a:p>
            <a:r>
              <a:rPr lang="en-GB" dirty="0" smtClean="0">
                <a:solidFill>
                  <a:schemeClr val="bg1"/>
                </a:solidFill>
              </a:rPr>
              <a:t>EVENT STORE</a:t>
            </a:r>
          </a:p>
          <a:p>
            <a:endParaRPr lang="en-GB" dirty="0" smtClean="0">
              <a:solidFill>
                <a:schemeClr val="bg1"/>
              </a:solidFill>
            </a:endParaRPr>
          </a:p>
          <a:p>
            <a:pPr marL="285750" indent="-285750">
              <a:buFont typeface="Wingdings" pitchFamily="2" charset="2"/>
              <a:buChar char="§"/>
            </a:pPr>
            <a:r>
              <a:rPr lang="en-GB" dirty="0" smtClean="0">
                <a:solidFill>
                  <a:schemeClr val="bg1"/>
                </a:solidFill>
              </a:rPr>
              <a:t>To store the data in external EEPROM</a:t>
            </a:r>
          </a:p>
          <a:p>
            <a:endParaRPr lang="en-GB" dirty="0">
              <a:solidFill>
                <a:schemeClr val="bg1"/>
              </a:solidFill>
            </a:endParaRPr>
          </a:p>
          <a:p>
            <a:r>
              <a:rPr lang="en-GB" dirty="0" smtClean="0">
                <a:solidFill>
                  <a:schemeClr val="bg1"/>
                </a:solidFill>
              </a:rPr>
              <a:t>MAIN MENU</a:t>
            </a:r>
          </a:p>
          <a:p>
            <a:endParaRPr lang="en-GB" dirty="0">
              <a:solidFill>
                <a:schemeClr val="bg1"/>
              </a:solidFill>
            </a:endParaRPr>
          </a:p>
          <a:p>
            <a:pPr marL="285750" indent="-285750">
              <a:buFont typeface="Wingdings" pitchFamily="2" charset="2"/>
              <a:buChar char="§"/>
            </a:pPr>
            <a:r>
              <a:rPr lang="en-GB" dirty="0" smtClean="0">
                <a:solidFill>
                  <a:schemeClr val="bg1"/>
                </a:solidFill>
              </a:rPr>
              <a:t>In main menu 4 menus </a:t>
            </a:r>
          </a:p>
          <a:p>
            <a:pPr marL="800100" lvl="1" indent="-342900">
              <a:buFont typeface="+mj-lt"/>
              <a:buAutoNum type="arabicPeriod"/>
            </a:pPr>
            <a:r>
              <a:rPr lang="en-GB" dirty="0" smtClean="0">
                <a:solidFill>
                  <a:schemeClr val="bg1"/>
                </a:solidFill>
              </a:rPr>
              <a:t>View log</a:t>
            </a:r>
          </a:p>
          <a:p>
            <a:pPr marL="800100" lvl="1" indent="-342900">
              <a:buFont typeface="+mj-lt"/>
              <a:buAutoNum type="arabicPeriod"/>
            </a:pPr>
            <a:r>
              <a:rPr lang="en-GB" dirty="0" smtClean="0">
                <a:solidFill>
                  <a:schemeClr val="bg1"/>
                </a:solidFill>
              </a:rPr>
              <a:t>Clear log</a:t>
            </a:r>
          </a:p>
          <a:p>
            <a:pPr marL="800100" lvl="1" indent="-342900">
              <a:buFont typeface="+mj-lt"/>
              <a:buAutoNum type="arabicPeriod"/>
            </a:pPr>
            <a:r>
              <a:rPr lang="en-GB" dirty="0" smtClean="0">
                <a:solidFill>
                  <a:schemeClr val="bg1"/>
                </a:solidFill>
              </a:rPr>
              <a:t>Set time</a:t>
            </a:r>
          </a:p>
          <a:p>
            <a:pPr marL="800100" lvl="1" indent="-342900">
              <a:buFont typeface="+mj-lt"/>
              <a:buAutoNum type="arabicPeriod"/>
            </a:pPr>
            <a:r>
              <a:rPr lang="en-GB" dirty="0" smtClean="0">
                <a:solidFill>
                  <a:schemeClr val="bg1"/>
                </a:solidFill>
              </a:rPr>
              <a:t>Download log</a:t>
            </a:r>
            <a:endParaRPr lang="en-GB" dirty="0">
              <a:solidFill>
                <a:schemeClr val="bg1"/>
              </a:solidFill>
            </a:endParaRPr>
          </a:p>
          <a:p>
            <a:pPr marL="285750" indent="-285750">
              <a:buFont typeface="Wingdings" pitchFamily="2" charset="2"/>
              <a:buChar char="§"/>
            </a:pPr>
            <a:endParaRPr lang="en-GB" dirty="0" smtClean="0">
              <a:solidFill>
                <a:schemeClr val="bg1"/>
              </a:solidFill>
            </a:endParaRPr>
          </a:p>
        </p:txBody>
      </p:sp>
    </p:spTree>
    <p:extLst>
      <p:ext uri="{BB962C8B-B14F-4D97-AF65-F5344CB8AC3E}">
        <p14:creationId xmlns:p14="http://schemas.microsoft.com/office/powerpoint/2010/main" val="3512131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E:\car\abstract-background-with-technology-circuit-board-texture-electronic-motherboard-illustration-communication-and-engineering-concept-illustration-free-vec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6" y="0"/>
            <a:ext cx="9166896"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68560" y="548678"/>
            <a:ext cx="5256584" cy="461665"/>
          </a:xfrm>
          <a:prstGeom prst="rect">
            <a:avLst/>
          </a:prstGeom>
        </p:spPr>
        <p:txBody>
          <a:bodyPr wrap="square">
            <a:spAutoFit/>
          </a:bodyPr>
          <a:lstStyle/>
          <a:p>
            <a:pPr lvl="3" algn="just"/>
            <a:r>
              <a:rPr lang="en-IN" sz="2400" b="1" u="sng" dirty="0" smtClean="0">
                <a:solidFill>
                  <a:schemeClr val="bg1"/>
                </a:solidFill>
                <a:latin typeface="Times New Roman" panose="02020603050405020304" pitchFamily="18" charset="0"/>
                <a:cs typeface="Times New Roman" panose="02020603050405020304" pitchFamily="18" charset="0"/>
              </a:rPr>
              <a:t>APPLICATION</a:t>
            </a:r>
          </a:p>
        </p:txBody>
      </p:sp>
      <p:sp>
        <p:nvSpPr>
          <p:cNvPr id="4" name="TextBox 3"/>
          <p:cNvSpPr txBox="1"/>
          <p:nvPr/>
        </p:nvSpPr>
        <p:spPr>
          <a:xfrm>
            <a:off x="2296599" y="1874728"/>
            <a:ext cx="4643322" cy="3108543"/>
          </a:xfrm>
          <a:prstGeom prst="rect">
            <a:avLst/>
          </a:prstGeom>
          <a:noFill/>
        </p:spPr>
        <p:txBody>
          <a:bodyPr wrap="none" rtlCol="0">
            <a:spAutoFit/>
          </a:bodyPr>
          <a:lstStyle/>
          <a:p>
            <a:pPr marL="457200" indent="-457200">
              <a:buFont typeface="Wingdings" pitchFamily="2" charset="2"/>
              <a:buChar char="Ø"/>
            </a:pPr>
            <a:r>
              <a:rPr lang="en-IN" sz="2800" dirty="0" smtClean="0">
                <a:solidFill>
                  <a:schemeClr val="bg1"/>
                </a:solidFill>
              </a:rPr>
              <a:t>Accident Analysis</a:t>
            </a:r>
          </a:p>
          <a:p>
            <a:pPr marL="457200" indent="-457200">
              <a:buFont typeface="Wingdings" pitchFamily="2" charset="2"/>
              <a:buChar char="Ø"/>
            </a:pPr>
            <a:r>
              <a:rPr lang="en-IN" sz="2800" dirty="0" smtClean="0">
                <a:solidFill>
                  <a:schemeClr val="bg1"/>
                </a:solidFill>
              </a:rPr>
              <a:t>Insurance Claims</a:t>
            </a:r>
          </a:p>
          <a:p>
            <a:pPr marL="457200" indent="-457200">
              <a:buFont typeface="Wingdings" pitchFamily="2" charset="2"/>
              <a:buChar char="Ø"/>
            </a:pPr>
            <a:r>
              <a:rPr lang="en-IN" sz="2800" dirty="0" smtClean="0">
                <a:solidFill>
                  <a:schemeClr val="bg1"/>
                </a:solidFill>
              </a:rPr>
              <a:t>Fleet Management</a:t>
            </a:r>
          </a:p>
          <a:p>
            <a:pPr marL="457200" indent="-457200">
              <a:buFont typeface="Wingdings" pitchFamily="2" charset="2"/>
              <a:buChar char="Ø"/>
            </a:pPr>
            <a:r>
              <a:rPr lang="en-IN" sz="2800" dirty="0" smtClean="0">
                <a:solidFill>
                  <a:schemeClr val="bg1"/>
                </a:solidFill>
              </a:rPr>
              <a:t>Driver Safety and Training</a:t>
            </a:r>
          </a:p>
          <a:p>
            <a:pPr marL="457200" indent="-457200">
              <a:buFont typeface="Wingdings" pitchFamily="2" charset="2"/>
              <a:buChar char="Ø"/>
            </a:pPr>
            <a:r>
              <a:rPr lang="en-IN" sz="2800" dirty="0" smtClean="0">
                <a:solidFill>
                  <a:schemeClr val="bg1"/>
                </a:solidFill>
              </a:rPr>
              <a:t>Law Enforcement</a:t>
            </a:r>
          </a:p>
          <a:p>
            <a:pPr marL="457200" indent="-457200">
              <a:buFont typeface="Wingdings" pitchFamily="2" charset="2"/>
              <a:buChar char="Ø"/>
            </a:pPr>
            <a:r>
              <a:rPr lang="en-IN" sz="2800" dirty="0" smtClean="0">
                <a:solidFill>
                  <a:schemeClr val="bg1"/>
                </a:solidFill>
              </a:rPr>
              <a:t>Research and Development</a:t>
            </a:r>
          </a:p>
          <a:p>
            <a:pPr marL="457200" indent="-457200">
              <a:buFont typeface="Wingdings" pitchFamily="2" charset="2"/>
              <a:buChar char="Ø"/>
            </a:pPr>
            <a:r>
              <a:rPr lang="en-IN" sz="2800" dirty="0" smtClean="0">
                <a:solidFill>
                  <a:schemeClr val="bg1"/>
                </a:solidFill>
              </a:rPr>
              <a:t>Emergency Response</a:t>
            </a:r>
            <a:endParaRPr lang="en-IN" sz="2800" dirty="0">
              <a:solidFill>
                <a:schemeClr val="bg1"/>
              </a:solidFill>
            </a:endParaRPr>
          </a:p>
        </p:txBody>
      </p:sp>
    </p:spTree>
    <p:extLst>
      <p:ext uri="{BB962C8B-B14F-4D97-AF65-F5344CB8AC3E}">
        <p14:creationId xmlns:p14="http://schemas.microsoft.com/office/powerpoint/2010/main" val="191586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250"/>
                                        <p:tgtEl>
                                          <p:spTgt spid="4">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down)">
                                      <p:cBhvr>
                                        <p:cTn id="10" dur="250"/>
                                        <p:tgtEl>
                                          <p:spTgt spid="4">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wipe(down)">
                                      <p:cBhvr>
                                        <p:cTn id="13" dur="250"/>
                                        <p:tgtEl>
                                          <p:spTgt spid="4">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wipe(down)">
                                      <p:cBhvr>
                                        <p:cTn id="16" dur="250"/>
                                        <p:tgtEl>
                                          <p:spTgt spid="4">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wipe(down)">
                                      <p:cBhvr>
                                        <p:cTn id="19" dur="250"/>
                                        <p:tgtEl>
                                          <p:spTgt spid="4">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wipe(down)">
                                      <p:cBhvr>
                                        <p:cTn id="22" dur="250"/>
                                        <p:tgtEl>
                                          <p:spTgt spid="4">
                                            <p:txEl>
                                              <p:pRg st="5" end="5"/>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Effect transition="in" filter="wipe(down)">
                                      <p:cBhvr>
                                        <p:cTn id="25" dur="25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E:\car\abstract-background-with-technology-circuit-board-texture-electronic-motherboard-illustration-communication-and-engineering-concept-illustration-free-vec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6" y="0"/>
            <a:ext cx="9166896"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403648" y="620688"/>
            <a:ext cx="4572000" cy="461665"/>
          </a:xfrm>
          <a:prstGeom prst="rect">
            <a:avLst/>
          </a:prstGeom>
        </p:spPr>
        <p:txBody>
          <a:bodyPr>
            <a:spAutoFit/>
          </a:bodyPr>
          <a:lstStyle/>
          <a:p>
            <a:pPr lvl="3"/>
            <a:r>
              <a:rPr lang="en-IN" sz="2400" b="1" u="sng" dirty="0" smtClean="0">
                <a:solidFill>
                  <a:schemeClr val="bg1"/>
                </a:solidFill>
                <a:latin typeface="Times New Roman" panose="02020603050405020304" pitchFamily="18" charset="0"/>
                <a:cs typeface="Times New Roman" panose="02020603050405020304" pitchFamily="18" charset="0"/>
              </a:rPr>
              <a:t>ADVANTAGES</a:t>
            </a:r>
          </a:p>
        </p:txBody>
      </p:sp>
      <p:sp>
        <p:nvSpPr>
          <p:cNvPr id="3" name="Rectangle 2"/>
          <p:cNvSpPr/>
          <p:nvPr/>
        </p:nvSpPr>
        <p:spPr>
          <a:xfrm>
            <a:off x="1115616" y="1595021"/>
            <a:ext cx="7128792" cy="4524315"/>
          </a:xfrm>
          <a:prstGeom prst="rect">
            <a:avLst/>
          </a:prstGeom>
        </p:spPr>
        <p:txBody>
          <a:bodyPr wrap="square">
            <a:spAutoFit/>
          </a:bodyPr>
          <a:lstStyle/>
          <a:p>
            <a:pPr marL="285750" indent="-285750">
              <a:buFont typeface="Wingdings" pitchFamily="2" charset="2"/>
              <a:buChar char="Ø"/>
            </a:pPr>
            <a:r>
              <a:rPr lang="en-GB" sz="2400" dirty="0" smtClean="0">
                <a:solidFill>
                  <a:schemeClr val="bg1"/>
                </a:solidFill>
                <a:latin typeface="Times New Roman" pitchFamily="18" charset="0"/>
                <a:cs typeface="Times New Roman" pitchFamily="18" charset="0"/>
              </a:rPr>
              <a:t>Provides accurate data to determine the cause of accidents, which can be crucial for investigations and insurance claims.</a:t>
            </a:r>
          </a:p>
          <a:p>
            <a:pPr marL="285750" indent="-285750">
              <a:buFont typeface="Wingdings" pitchFamily="2" charset="2"/>
              <a:buChar char="Ø"/>
            </a:pPr>
            <a:endParaRPr lang="en-GB" sz="2400" dirty="0" smtClean="0">
              <a:solidFill>
                <a:schemeClr val="bg1"/>
              </a:solidFill>
              <a:latin typeface="Times New Roman" pitchFamily="18" charset="0"/>
              <a:cs typeface="Times New Roman" pitchFamily="18" charset="0"/>
            </a:endParaRPr>
          </a:p>
          <a:p>
            <a:pPr marL="285750" indent="-285750">
              <a:buFont typeface="Wingdings" pitchFamily="2" charset="2"/>
              <a:buChar char="Ø"/>
            </a:pPr>
            <a:r>
              <a:rPr lang="en-GB" sz="2400" dirty="0" smtClean="0">
                <a:solidFill>
                  <a:schemeClr val="bg1"/>
                </a:solidFill>
                <a:latin typeface="Times New Roman" pitchFamily="18" charset="0"/>
                <a:cs typeface="Times New Roman" pitchFamily="18" charset="0"/>
              </a:rPr>
              <a:t>Can help resolve disputes quickly, potentially leading to lower premiums for safe drivers.</a:t>
            </a:r>
          </a:p>
          <a:p>
            <a:pPr marL="285750" indent="-285750">
              <a:buFont typeface="Wingdings" pitchFamily="2" charset="2"/>
              <a:buChar char="Ø"/>
            </a:pPr>
            <a:endParaRPr lang="en-GB" sz="2400" dirty="0" smtClean="0">
              <a:solidFill>
                <a:schemeClr val="bg1"/>
              </a:solidFill>
              <a:latin typeface="Times New Roman" pitchFamily="18" charset="0"/>
              <a:cs typeface="Times New Roman" pitchFamily="18" charset="0"/>
            </a:endParaRPr>
          </a:p>
          <a:p>
            <a:pPr marL="285750" indent="-285750">
              <a:buFont typeface="Wingdings" pitchFamily="2" charset="2"/>
              <a:buChar char="Ø"/>
            </a:pPr>
            <a:r>
              <a:rPr lang="en-GB" sz="2400" dirty="0" smtClean="0">
                <a:solidFill>
                  <a:schemeClr val="bg1"/>
                </a:solidFill>
                <a:latin typeface="Times New Roman" pitchFamily="18" charset="0"/>
                <a:cs typeface="Times New Roman" pitchFamily="18" charset="0"/>
              </a:rPr>
              <a:t>Logs technical data, allowing early detection of mechanical issues and timely maintenance.</a:t>
            </a:r>
          </a:p>
          <a:p>
            <a:pPr marL="285750" indent="-285750">
              <a:buFont typeface="Wingdings" pitchFamily="2" charset="2"/>
              <a:buChar char="Ø"/>
            </a:pPr>
            <a:endParaRPr lang="en-GB" sz="2400" dirty="0" smtClean="0">
              <a:solidFill>
                <a:schemeClr val="bg1"/>
              </a:solidFill>
              <a:latin typeface="Times New Roman" pitchFamily="18" charset="0"/>
              <a:cs typeface="Times New Roman" pitchFamily="18" charset="0"/>
            </a:endParaRPr>
          </a:p>
          <a:p>
            <a:pPr marL="285750" indent="-285750">
              <a:buFont typeface="Wingdings" pitchFamily="2" charset="2"/>
              <a:buChar char="Ø"/>
            </a:pPr>
            <a:r>
              <a:rPr lang="en-GB" sz="2400" dirty="0" smtClean="0">
                <a:solidFill>
                  <a:schemeClr val="bg1"/>
                </a:solidFill>
                <a:latin typeface="Times New Roman" pitchFamily="18" charset="0"/>
                <a:cs typeface="Times New Roman" pitchFamily="18" charset="0"/>
              </a:rPr>
              <a:t>Encourages responsible driving, as drivers are aware their actions are being recorded.</a:t>
            </a:r>
            <a:endParaRPr lang="en-IN" sz="2400"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27132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E:\car\abstract-background-with-technology-circuit-board-texture-electronic-motherboard-illustration-communication-and-engineering-concept-illustration-free-vec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6" y="0"/>
            <a:ext cx="9166896"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267744" y="332656"/>
            <a:ext cx="2945615" cy="461665"/>
          </a:xfrm>
          <a:prstGeom prst="rect">
            <a:avLst/>
          </a:prstGeom>
        </p:spPr>
        <p:txBody>
          <a:bodyPr wrap="none">
            <a:spAutoFit/>
          </a:bodyPr>
          <a:lstStyle/>
          <a:p>
            <a:pPr lvl="3"/>
            <a:r>
              <a:rPr lang="en-IN" sz="2400" b="1" dirty="0" smtClean="0">
                <a:solidFill>
                  <a:schemeClr val="bg1"/>
                </a:solidFill>
                <a:latin typeface="Times New Roman" panose="02020603050405020304" pitchFamily="18" charset="0"/>
                <a:cs typeface="Times New Roman" panose="02020603050405020304" pitchFamily="18" charset="0"/>
              </a:rPr>
              <a:t>RESULTS</a:t>
            </a:r>
          </a:p>
        </p:txBody>
      </p:sp>
      <p:pic>
        <p:nvPicPr>
          <p:cNvPr id="1331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4737" t="2259" r="26979" b="9627"/>
          <a:stretch/>
        </p:blipFill>
        <p:spPr bwMode="auto">
          <a:xfrm rot="16200000">
            <a:off x="1192323" y="693218"/>
            <a:ext cx="1512168" cy="3383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779912" y="1430774"/>
            <a:ext cx="5040560" cy="2862322"/>
          </a:xfrm>
          <a:prstGeom prst="rect">
            <a:avLst/>
          </a:prstGeom>
          <a:noFill/>
        </p:spPr>
        <p:txBody>
          <a:bodyPr wrap="square" rtlCol="0">
            <a:spAutoFit/>
          </a:bodyPr>
          <a:lstStyle/>
          <a:p>
            <a:pPr marL="285750" indent="-285750">
              <a:buFont typeface="Wingdings" pitchFamily="2" charset="2"/>
              <a:buChar char="Ø"/>
            </a:pPr>
            <a:r>
              <a:rPr lang="en-GB" dirty="0" smtClean="0">
                <a:solidFill>
                  <a:schemeClr val="bg1"/>
                </a:solidFill>
                <a:latin typeface="Times New Roman" pitchFamily="18" charset="0"/>
                <a:cs typeface="Times New Roman" pitchFamily="18" charset="0"/>
              </a:rPr>
              <a:t>When power ON or RESET to display the RTC time, event and speed.</a:t>
            </a:r>
          </a:p>
          <a:p>
            <a:pPr marL="285750" indent="-285750">
              <a:buFont typeface="Wingdings" pitchFamily="2" charset="2"/>
              <a:buChar char="Ø"/>
            </a:pPr>
            <a:r>
              <a:rPr lang="en-GB" dirty="0" smtClean="0">
                <a:solidFill>
                  <a:schemeClr val="bg1"/>
                </a:solidFill>
                <a:latin typeface="Times New Roman" pitchFamily="18" charset="0"/>
                <a:cs typeface="Times New Roman" pitchFamily="18" charset="0"/>
              </a:rPr>
              <a:t>If Switch 1 pressed gear will be increase the GN to GR and store the event.</a:t>
            </a:r>
          </a:p>
          <a:p>
            <a:pPr marL="285750" indent="-285750">
              <a:buFont typeface="Wingdings" pitchFamily="2" charset="2"/>
              <a:buChar char="Ø"/>
            </a:pPr>
            <a:r>
              <a:rPr lang="en-GB" dirty="0" smtClean="0">
                <a:solidFill>
                  <a:schemeClr val="bg1"/>
                </a:solidFill>
                <a:latin typeface="Times New Roman" pitchFamily="18" charset="0"/>
                <a:cs typeface="Times New Roman" pitchFamily="18" charset="0"/>
              </a:rPr>
              <a:t>If Switch 2 pressed gear will be decrease the GR to GN and store the event.</a:t>
            </a:r>
          </a:p>
          <a:p>
            <a:pPr marL="285750" indent="-285750">
              <a:buFont typeface="Wingdings" pitchFamily="2" charset="2"/>
              <a:buChar char="Ø"/>
            </a:pPr>
            <a:r>
              <a:rPr lang="en-GB" dirty="0" smtClean="0">
                <a:solidFill>
                  <a:schemeClr val="bg1"/>
                </a:solidFill>
                <a:latin typeface="Times New Roman" pitchFamily="18" charset="0"/>
                <a:cs typeface="Times New Roman" pitchFamily="18" charset="0"/>
              </a:rPr>
              <a:t>If Switch 3 pressed Collision happens at the time SW1 is GN to GR and SW2 is GR to GN and store the event. </a:t>
            </a:r>
          </a:p>
          <a:p>
            <a:pPr marL="285750" indent="-285750">
              <a:buFont typeface="Wingdings" pitchFamily="2" charset="2"/>
              <a:buChar char="Ø"/>
            </a:pPr>
            <a:endParaRPr lang="en-IN" dirty="0">
              <a:solidFill>
                <a:schemeClr val="bg1"/>
              </a:solidFill>
              <a:latin typeface="Times New Roman" pitchFamily="18" charset="0"/>
              <a:cs typeface="Times New Roman" pitchFamily="18" charset="0"/>
            </a:endParaRPr>
          </a:p>
        </p:txBody>
      </p:sp>
      <p:pic>
        <p:nvPicPr>
          <p:cNvPr id="13315" name="Picture 3"/>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6713" t="15562" r="53813"/>
          <a:stretch/>
        </p:blipFill>
        <p:spPr bwMode="auto">
          <a:xfrm rot="5400000">
            <a:off x="1203591" y="3254012"/>
            <a:ext cx="1512170" cy="336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779912" y="4293096"/>
            <a:ext cx="4752528" cy="1477328"/>
          </a:xfrm>
          <a:prstGeom prst="rect">
            <a:avLst/>
          </a:prstGeom>
          <a:noFill/>
        </p:spPr>
        <p:txBody>
          <a:bodyPr wrap="square" rtlCol="0">
            <a:spAutoFit/>
          </a:bodyPr>
          <a:lstStyle/>
          <a:p>
            <a:pPr marL="285750" indent="-285750">
              <a:buFont typeface="Wingdings" pitchFamily="2" charset="2"/>
              <a:buChar char="Ø"/>
            </a:pPr>
            <a:r>
              <a:rPr lang="en-GB" dirty="0" smtClean="0">
                <a:solidFill>
                  <a:schemeClr val="bg1"/>
                </a:solidFill>
                <a:latin typeface="Times New Roman" pitchFamily="18" charset="0"/>
                <a:cs typeface="Times New Roman" pitchFamily="18" charset="0"/>
              </a:rPr>
              <a:t>If Switch 11 pressed enter the main menu and again SW11 enter all logs. If SW1 or SW2 </a:t>
            </a:r>
            <a:r>
              <a:rPr lang="en-GB" dirty="0" err="1" smtClean="0">
                <a:solidFill>
                  <a:schemeClr val="bg1"/>
                </a:solidFill>
                <a:latin typeface="Times New Roman" pitchFamily="18" charset="0"/>
                <a:cs typeface="Times New Roman" pitchFamily="18" charset="0"/>
              </a:rPr>
              <a:t>inc</a:t>
            </a:r>
            <a:r>
              <a:rPr lang="en-GB" dirty="0" smtClean="0">
                <a:solidFill>
                  <a:schemeClr val="bg1"/>
                </a:solidFill>
                <a:latin typeface="Times New Roman" pitchFamily="18" charset="0"/>
                <a:cs typeface="Times New Roman" pitchFamily="18" charset="0"/>
              </a:rPr>
              <a:t> and </a:t>
            </a:r>
            <a:r>
              <a:rPr lang="en-GB" dirty="0" err="1" smtClean="0">
                <a:solidFill>
                  <a:schemeClr val="bg1"/>
                </a:solidFill>
                <a:latin typeface="Times New Roman" pitchFamily="18" charset="0"/>
                <a:cs typeface="Times New Roman" pitchFamily="18" charset="0"/>
              </a:rPr>
              <a:t>dec</a:t>
            </a:r>
            <a:r>
              <a:rPr lang="en-GB" dirty="0" smtClean="0">
                <a:solidFill>
                  <a:schemeClr val="bg1"/>
                </a:solidFill>
                <a:latin typeface="Times New Roman" pitchFamily="18" charset="0"/>
                <a:cs typeface="Times New Roman" pitchFamily="18" charset="0"/>
              </a:rPr>
              <a:t> scroll down  * will be changed as scroll up.</a:t>
            </a:r>
          </a:p>
          <a:p>
            <a:pPr marL="285750" indent="-285750">
              <a:buFont typeface="Wingdings" pitchFamily="2" charset="2"/>
              <a:buChar char="Ø"/>
            </a:pPr>
            <a:r>
              <a:rPr lang="en-GB" dirty="0" smtClean="0">
                <a:solidFill>
                  <a:schemeClr val="bg1"/>
                </a:solidFill>
                <a:latin typeface="Times New Roman" pitchFamily="18" charset="0"/>
                <a:cs typeface="Times New Roman" pitchFamily="18" charset="0"/>
              </a:rPr>
              <a:t>If Switch 12 pressed exit</a:t>
            </a:r>
            <a:endParaRPr lang="en-IN"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1524777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circle(in)">
                                      <p:cBhvr>
                                        <p:cTn id="7" dur="500"/>
                                        <p:tgtEl>
                                          <p:spTgt spid="13314"/>
                                        </p:tgtEl>
                                      </p:cBhvr>
                                    </p:animEffect>
                                  </p:childTnLst>
                                </p:cTn>
                              </p:par>
                              <p:par>
                                <p:cTn id="8" presetID="6" presetClass="entr" presetSubtype="16" fill="hold" nodeType="withEffect">
                                  <p:stCondLst>
                                    <p:cond delay="0"/>
                                  </p:stCondLst>
                                  <p:childTnLst>
                                    <p:set>
                                      <p:cBhvr>
                                        <p:cTn id="9" dur="1" fill="hold">
                                          <p:stCondLst>
                                            <p:cond delay="0"/>
                                          </p:stCondLst>
                                        </p:cTn>
                                        <p:tgtEl>
                                          <p:spTgt spid="13315"/>
                                        </p:tgtEl>
                                        <p:attrNameLst>
                                          <p:attrName>style.visibility</p:attrName>
                                        </p:attrNameLst>
                                      </p:cBhvr>
                                      <p:to>
                                        <p:strVal val="visible"/>
                                      </p:to>
                                    </p:set>
                                    <p:animEffect transition="in" filter="circle(in)">
                                      <p:cBhvr>
                                        <p:cTn id="10" dur="500"/>
                                        <p:tgtEl>
                                          <p:spTgt spid="13315"/>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inVertical)">
                                      <p:cBhvr>
                                        <p:cTn id="13" dur="250"/>
                                        <p:tgtEl>
                                          <p:spTgt spid="3"/>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arn(inVertical)">
                                      <p:cBhvr>
                                        <p:cTn id="16"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E:\car\abstract-background-with-technology-circuit-board-texture-electronic-motherboard-illustration-communication-and-engineering-concept-illustration-free-vec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6" y="0"/>
            <a:ext cx="9166896"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743908" y="1193466"/>
            <a:ext cx="4968552" cy="1631216"/>
          </a:xfrm>
          <a:prstGeom prst="rect">
            <a:avLst/>
          </a:prstGeom>
          <a:noFill/>
        </p:spPr>
        <p:txBody>
          <a:bodyPr wrap="square" rtlCol="0">
            <a:spAutoFit/>
          </a:bodyPr>
          <a:lstStyle/>
          <a:p>
            <a:pPr marL="285750" indent="-285750">
              <a:buFont typeface="Wingdings" pitchFamily="2" charset="2"/>
              <a:buChar char="Ø"/>
            </a:pPr>
            <a:r>
              <a:rPr lang="en-GB" sz="2000" dirty="0" smtClean="0">
                <a:solidFill>
                  <a:schemeClr val="bg1"/>
                </a:solidFill>
                <a:latin typeface="Times New Roman" pitchFamily="18" charset="0"/>
                <a:cs typeface="Times New Roman" pitchFamily="18" charset="0"/>
              </a:rPr>
              <a:t>In view log SW1 is pressed decrement the stored events and SW2 is increment the stored events.</a:t>
            </a:r>
          </a:p>
          <a:p>
            <a:pPr marL="285750" indent="-285750">
              <a:buFont typeface="Wingdings" pitchFamily="2" charset="2"/>
              <a:buChar char="Ø"/>
            </a:pPr>
            <a:r>
              <a:rPr lang="en-GB" sz="2000" dirty="0" smtClean="0">
                <a:solidFill>
                  <a:schemeClr val="bg1"/>
                </a:solidFill>
                <a:latin typeface="Times New Roman" pitchFamily="18" charset="0"/>
                <a:cs typeface="Times New Roman" pitchFamily="18" charset="0"/>
              </a:rPr>
              <a:t>Only stored 10 data or events </a:t>
            </a:r>
          </a:p>
          <a:p>
            <a:pPr marL="285750" indent="-285750">
              <a:buFont typeface="Wingdings" pitchFamily="2" charset="2"/>
              <a:buChar char="Ø"/>
            </a:pPr>
            <a:r>
              <a:rPr lang="en-GB" sz="2000" dirty="0" smtClean="0">
                <a:solidFill>
                  <a:schemeClr val="bg1"/>
                </a:solidFill>
                <a:latin typeface="Times New Roman" pitchFamily="18" charset="0"/>
                <a:cs typeface="Times New Roman" pitchFamily="18" charset="0"/>
              </a:rPr>
              <a:t>If SW12 pressed exit.</a:t>
            </a:r>
            <a:endParaRPr lang="en-IN" sz="2000" dirty="0">
              <a:solidFill>
                <a:schemeClr val="bg1"/>
              </a:solidFill>
              <a:latin typeface="Times New Roman" pitchFamily="18" charset="0"/>
              <a:cs typeface="Times New Roman" pitchFamily="18" charset="0"/>
            </a:endParaRPr>
          </a:p>
        </p:txBody>
      </p:sp>
      <p:sp>
        <p:nvSpPr>
          <p:cNvPr id="3" name="TextBox 2"/>
          <p:cNvSpPr txBox="1"/>
          <p:nvPr/>
        </p:nvSpPr>
        <p:spPr>
          <a:xfrm>
            <a:off x="3596997" y="3789040"/>
            <a:ext cx="5328591" cy="1938992"/>
          </a:xfrm>
          <a:prstGeom prst="rect">
            <a:avLst/>
          </a:prstGeom>
          <a:noFill/>
        </p:spPr>
        <p:txBody>
          <a:bodyPr wrap="square" rtlCol="0">
            <a:spAutoFit/>
          </a:bodyPr>
          <a:lstStyle/>
          <a:p>
            <a:pPr marL="285750" indent="-285750">
              <a:buFont typeface="Wingdings" pitchFamily="2" charset="2"/>
              <a:buChar char="Ø"/>
            </a:pPr>
            <a:r>
              <a:rPr lang="en-GB" sz="2000" dirty="0" smtClean="0">
                <a:solidFill>
                  <a:schemeClr val="bg1"/>
                </a:solidFill>
                <a:latin typeface="Times New Roman" pitchFamily="18" charset="0"/>
                <a:cs typeface="Times New Roman" pitchFamily="18" charset="0"/>
              </a:rPr>
              <a:t>In Set time If SW1 pressed increment the value in what field select that only</a:t>
            </a:r>
          </a:p>
          <a:p>
            <a:pPr marL="285750" indent="-285750">
              <a:buFont typeface="Wingdings" pitchFamily="2" charset="2"/>
              <a:buChar char="Ø"/>
            </a:pPr>
            <a:r>
              <a:rPr lang="en-GB" sz="2000" dirty="0" smtClean="0">
                <a:solidFill>
                  <a:schemeClr val="bg1"/>
                </a:solidFill>
                <a:latin typeface="Times New Roman" pitchFamily="18" charset="0"/>
                <a:cs typeface="Times New Roman" pitchFamily="18" charset="0"/>
              </a:rPr>
              <a:t>If SW2 pressed change fields hour or minute or seconds.</a:t>
            </a:r>
          </a:p>
          <a:p>
            <a:pPr marL="285750" indent="-285750">
              <a:buFont typeface="Wingdings" pitchFamily="2" charset="2"/>
              <a:buChar char="Ø"/>
            </a:pPr>
            <a:r>
              <a:rPr lang="en-GB" sz="2000" dirty="0" smtClean="0">
                <a:solidFill>
                  <a:schemeClr val="bg1"/>
                </a:solidFill>
                <a:latin typeface="Times New Roman" pitchFamily="18" charset="0"/>
                <a:cs typeface="Times New Roman" pitchFamily="18" charset="0"/>
              </a:rPr>
              <a:t>If SW11 save and exit and again SW11 what time set that will be print</a:t>
            </a:r>
            <a:r>
              <a:rPr lang="en-IN" sz="2000" dirty="0" smtClean="0">
                <a:solidFill>
                  <a:schemeClr val="bg1"/>
                </a:solidFill>
                <a:latin typeface="Times New Roman" pitchFamily="18" charset="0"/>
                <a:cs typeface="Times New Roman" pitchFamily="18" charset="0"/>
              </a:rPr>
              <a:t>.</a:t>
            </a:r>
            <a:endParaRPr lang="en-GB" sz="2000" dirty="0" smtClean="0">
              <a:solidFill>
                <a:schemeClr val="bg1"/>
              </a:solidFill>
              <a:latin typeface="Times New Roman" pitchFamily="18" charset="0"/>
              <a:cs typeface="Times New Roman" pitchFamily="18" charset="0"/>
            </a:endParaRPr>
          </a:p>
        </p:txBody>
      </p:sp>
      <p:pic>
        <p:nvPicPr>
          <p:cNvPr id="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7275" t="17900" r="56466"/>
          <a:stretch/>
        </p:blipFill>
        <p:spPr bwMode="auto">
          <a:xfrm rot="5400000">
            <a:off x="1151335" y="259973"/>
            <a:ext cx="1512169" cy="3379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3337" t="12950" r="58064"/>
          <a:stretch/>
        </p:blipFill>
        <p:spPr bwMode="auto">
          <a:xfrm rot="5400000">
            <a:off x="1117500" y="2976626"/>
            <a:ext cx="1512170" cy="3379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007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500"/>
                                        <p:tgtEl>
                                          <p:spTgt spid="8"/>
                                        </p:tgtEl>
                                      </p:cBhvr>
                                    </p:animEffect>
                                  </p:childTnLst>
                                </p:cTn>
                              </p:par>
                              <p:par>
                                <p:cTn id="8" presetID="6" presetClass="entr" presetSubtype="16"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ircle(in)">
                                      <p:cBhvr>
                                        <p:cTn id="10" dur="500"/>
                                        <p:tgtEl>
                                          <p:spTgt spid="10"/>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250"/>
                                        <p:tgtEl>
                                          <p:spTgt spid="2"/>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arn(inVertical)">
                                      <p:cBhvr>
                                        <p:cTn id="16"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car\abstract-background-with-technology-circuit-board-texture-electronic-motherboard-illustration-communication-and-engineering-concept-illustration-free-vec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6" y="0"/>
            <a:ext cx="9166896"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536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655" t="4750" r="-194" b="16400"/>
          <a:stretch/>
        </p:blipFill>
        <p:spPr bwMode="auto">
          <a:xfrm>
            <a:off x="611560" y="1057667"/>
            <a:ext cx="3189052" cy="201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937611" y="1166842"/>
            <a:ext cx="4656916" cy="4401205"/>
          </a:xfrm>
          <a:prstGeom prst="rect">
            <a:avLst/>
          </a:prstGeom>
          <a:noFill/>
        </p:spPr>
        <p:txBody>
          <a:bodyPr wrap="square" rtlCol="0">
            <a:spAutoFit/>
          </a:bodyPr>
          <a:lstStyle/>
          <a:p>
            <a:pPr marL="285750" indent="-285750">
              <a:buFont typeface="Wingdings" pitchFamily="2" charset="2"/>
              <a:buChar char="Ø"/>
            </a:pPr>
            <a:r>
              <a:rPr lang="en-GB" sz="2000" dirty="0" smtClean="0">
                <a:solidFill>
                  <a:schemeClr val="bg1"/>
                </a:solidFill>
                <a:latin typeface="Times New Roman" pitchFamily="18" charset="0"/>
                <a:cs typeface="Times New Roman" pitchFamily="18" charset="0"/>
              </a:rPr>
              <a:t>In Download log SW11 pressed what ever data present that will shows in </a:t>
            </a:r>
            <a:r>
              <a:rPr lang="en-GB" sz="2000" dirty="0" err="1" smtClean="0">
                <a:solidFill>
                  <a:schemeClr val="bg1"/>
                </a:solidFill>
                <a:latin typeface="Times New Roman" pitchFamily="18" charset="0"/>
                <a:cs typeface="Times New Roman" pitchFamily="18" charset="0"/>
              </a:rPr>
              <a:t>teraterm</a:t>
            </a:r>
            <a:r>
              <a:rPr lang="en-GB" sz="2000" dirty="0" smtClean="0">
                <a:solidFill>
                  <a:schemeClr val="bg1"/>
                </a:solidFill>
                <a:latin typeface="Times New Roman" pitchFamily="18" charset="0"/>
                <a:cs typeface="Times New Roman" pitchFamily="18" charset="0"/>
              </a:rPr>
              <a:t> application automatically displayed message in CLCD is Download log successfully and exit</a:t>
            </a:r>
          </a:p>
          <a:p>
            <a:pPr marL="285750" indent="-285750">
              <a:buFont typeface="Wingdings" pitchFamily="2" charset="2"/>
              <a:buChar char="Ø"/>
            </a:pPr>
            <a:endParaRPr lang="en-GB" sz="2000" dirty="0">
              <a:solidFill>
                <a:schemeClr val="bg1"/>
              </a:solidFill>
              <a:latin typeface="Times New Roman" pitchFamily="18" charset="0"/>
              <a:cs typeface="Times New Roman" pitchFamily="18" charset="0"/>
            </a:endParaRPr>
          </a:p>
          <a:p>
            <a:endParaRPr lang="en-GB" sz="2000" dirty="0" smtClean="0">
              <a:solidFill>
                <a:schemeClr val="bg1"/>
              </a:solidFill>
              <a:latin typeface="Times New Roman" pitchFamily="18" charset="0"/>
              <a:cs typeface="Times New Roman" pitchFamily="18" charset="0"/>
            </a:endParaRPr>
          </a:p>
          <a:p>
            <a:endParaRPr lang="en-GB" sz="2000" dirty="0" smtClean="0">
              <a:solidFill>
                <a:schemeClr val="bg1"/>
              </a:solidFill>
              <a:latin typeface="Times New Roman" pitchFamily="18" charset="0"/>
              <a:cs typeface="Times New Roman" pitchFamily="18" charset="0"/>
            </a:endParaRPr>
          </a:p>
          <a:p>
            <a:pPr marL="285750" indent="-285750">
              <a:buFont typeface="Wingdings" pitchFamily="2" charset="2"/>
              <a:buChar char="Ø"/>
            </a:pPr>
            <a:endParaRPr lang="en-GB" sz="2000" dirty="0">
              <a:solidFill>
                <a:schemeClr val="bg1"/>
              </a:solidFill>
              <a:latin typeface="Times New Roman" pitchFamily="18" charset="0"/>
              <a:cs typeface="Times New Roman" pitchFamily="18" charset="0"/>
            </a:endParaRPr>
          </a:p>
          <a:p>
            <a:pPr marL="285750" indent="-285750">
              <a:buFont typeface="Wingdings" pitchFamily="2" charset="2"/>
              <a:buChar char="Ø"/>
            </a:pPr>
            <a:endParaRPr lang="en-GB" sz="2000" dirty="0" smtClean="0">
              <a:solidFill>
                <a:schemeClr val="bg1"/>
              </a:solidFill>
              <a:latin typeface="Times New Roman" pitchFamily="18" charset="0"/>
              <a:cs typeface="Times New Roman" pitchFamily="18" charset="0"/>
            </a:endParaRPr>
          </a:p>
          <a:p>
            <a:pPr marL="285750" indent="-285750">
              <a:buFont typeface="Wingdings" pitchFamily="2" charset="2"/>
              <a:buChar char="Ø"/>
            </a:pPr>
            <a:r>
              <a:rPr lang="en-GB" sz="2000" dirty="0" smtClean="0">
                <a:solidFill>
                  <a:schemeClr val="bg1"/>
                </a:solidFill>
                <a:latin typeface="Times New Roman" pitchFamily="18" charset="0"/>
                <a:cs typeface="Times New Roman" pitchFamily="18" charset="0"/>
              </a:rPr>
              <a:t>If Clear log pressed CLCD print Clear data successfully and exit but in view log and download log pressed its shows No data found.</a:t>
            </a:r>
            <a:endParaRPr lang="en-IN" sz="2000" dirty="0">
              <a:solidFill>
                <a:schemeClr val="bg1"/>
              </a:solidFill>
              <a:latin typeface="Times New Roman" pitchFamily="18" charset="0"/>
              <a:cs typeface="Times New Roman" pitchFamily="18" charset="0"/>
            </a:endParaRPr>
          </a:p>
        </p:txBody>
      </p:sp>
      <p:pic>
        <p:nvPicPr>
          <p:cNvPr id="15363" name="Picture 3"/>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4832" t="24368" r="55036"/>
          <a:stretch/>
        </p:blipFill>
        <p:spPr bwMode="auto">
          <a:xfrm rot="5400000">
            <a:off x="1615696" y="3260313"/>
            <a:ext cx="1224137" cy="3145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902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circle(in)">
                                      <p:cBhvr>
                                        <p:cTn id="7" dur="500"/>
                                        <p:tgtEl>
                                          <p:spTgt spid="15362"/>
                                        </p:tgtEl>
                                      </p:cBhvr>
                                    </p:animEffect>
                                  </p:childTnLst>
                                </p:cTn>
                              </p:par>
                              <p:par>
                                <p:cTn id="8" presetID="6" presetClass="entr" presetSubtype="16" fill="hold" nodeType="withEffect">
                                  <p:stCondLst>
                                    <p:cond delay="0"/>
                                  </p:stCondLst>
                                  <p:childTnLst>
                                    <p:set>
                                      <p:cBhvr>
                                        <p:cTn id="9" dur="1" fill="hold">
                                          <p:stCondLst>
                                            <p:cond delay="0"/>
                                          </p:stCondLst>
                                        </p:cTn>
                                        <p:tgtEl>
                                          <p:spTgt spid="15363"/>
                                        </p:tgtEl>
                                        <p:attrNameLst>
                                          <p:attrName>style.visibility</p:attrName>
                                        </p:attrNameLst>
                                      </p:cBhvr>
                                      <p:to>
                                        <p:strVal val="visible"/>
                                      </p:to>
                                    </p:set>
                                    <p:animEffect transition="in" filter="circle(in)">
                                      <p:cBhvr>
                                        <p:cTn id="10" dur="500"/>
                                        <p:tgtEl>
                                          <p:spTgt spid="1536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inVertical)">
                                      <p:cBhvr>
                                        <p:cTn id="13"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car\abstract-background-with-technology-circuit-board-texture-electronic-motherboard-illustration-communication-and-engineering-concept-illustration-free-vec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6" y="0"/>
            <a:ext cx="9166896"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835696" y="548720"/>
            <a:ext cx="3658374" cy="461665"/>
          </a:xfrm>
          <a:prstGeom prst="rect">
            <a:avLst/>
          </a:prstGeom>
        </p:spPr>
        <p:txBody>
          <a:bodyPr wrap="none">
            <a:spAutoFit/>
          </a:bodyPr>
          <a:lstStyle/>
          <a:p>
            <a:pPr lvl="3"/>
            <a:r>
              <a:rPr lang="en-IN" sz="2400" b="1" dirty="0" smtClean="0">
                <a:solidFill>
                  <a:schemeClr val="bg1"/>
                </a:solidFill>
                <a:latin typeface="Times New Roman" panose="02020603050405020304" pitchFamily="18" charset="0"/>
                <a:cs typeface="Times New Roman" panose="02020603050405020304" pitchFamily="18" charset="0"/>
              </a:rPr>
              <a:t>CONCLUSION</a:t>
            </a:r>
          </a:p>
        </p:txBody>
      </p:sp>
      <p:sp>
        <p:nvSpPr>
          <p:cNvPr id="4" name="Rectangle 3"/>
          <p:cNvSpPr/>
          <p:nvPr/>
        </p:nvSpPr>
        <p:spPr>
          <a:xfrm>
            <a:off x="564108" y="1871824"/>
            <a:ext cx="7992888" cy="1569660"/>
          </a:xfrm>
          <a:prstGeom prst="rect">
            <a:avLst/>
          </a:prstGeom>
        </p:spPr>
        <p:txBody>
          <a:bodyPr wrap="square">
            <a:spAutoFit/>
          </a:bodyPr>
          <a:lstStyle/>
          <a:p>
            <a:pPr algn="just"/>
            <a:r>
              <a:rPr lang="en-GB" sz="2400" dirty="0" smtClean="0">
                <a:solidFill>
                  <a:schemeClr val="bg1"/>
                </a:solidFill>
                <a:latin typeface="Times New Roman" pitchFamily="18" charset="0"/>
                <a:cs typeface="Times New Roman" pitchFamily="18" charset="0"/>
              </a:rPr>
              <a:t>The Black Box system built can be implemented in any vehicle. As soon as the driver runs the motor, this system will begin saving the events of the corresponding vehicle. The data saved can be retrieved only after the accident for privacy purposes.</a:t>
            </a:r>
            <a:endParaRPr lang="en-IN" sz="2400"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79709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Thank You Tech Images - Free Download on Freepi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275502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410</TotalTime>
  <Words>726</Words>
  <Application>Microsoft Office PowerPoint</Application>
  <PresentationFormat>On-screen Show (4:3)</PresentationFormat>
  <Paragraphs>146</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36</cp:revision>
  <dcterms:created xsi:type="dcterms:W3CDTF">2025-01-16T12:19:52Z</dcterms:created>
  <dcterms:modified xsi:type="dcterms:W3CDTF">2025-01-20T02:46:22Z</dcterms:modified>
</cp:coreProperties>
</file>